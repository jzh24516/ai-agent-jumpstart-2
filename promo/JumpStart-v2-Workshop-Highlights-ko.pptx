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0F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194560" y="-2743200"/>
            <a:ext cx="6858000" cy="6858000"/>
          </a:xfrm>
          <a:prstGeom prst="ellipse">
            <a:avLst/>
          </a:prstGeom>
          <a:solidFill>
            <a:srgbClr val="7C3AED">
              <a:alpha val="2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412480" y="4023360"/>
            <a:ext cx="6400800" cy="6400800"/>
          </a:xfrm>
          <a:prstGeom prst="ellipse">
            <a:avLst/>
          </a:prstGeom>
          <a:solidFill>
            <a:srgbClr val="EC4899">
              <a:alpha val="1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6400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472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● </a:t>
            </a:r>
            <a:pPr algn="l" indent="0" marL="0">
              <a:buNone/>
            </a:pPr>
            <a:r>
              <a:rPr lang="en-US" sz="1200" b="1" dirty="0">
                <a:solidFill>
                  <a:srgbClr val="E9E6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Microsoft Copilot Studio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03504" y="1371600"/>
            <a:ext cx="65836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Agent Workshop</a:t>
            </a:r>
            <a:endParaRPr lang="en-US" sz="460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340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by Microsoft Agent GBB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640080" y="3246120"/>
            <a:ext cx="60350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CFCD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Microsoft Copilot Studio에서 다양한 맞춤형 Agent를 구축하는 실습형, 자기 주도, 다국어 랩 경험.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4434840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B4B1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Microsoft MCAPS Core — Agent Asia Team   ·   July 16, 2026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4937760"/>
            <a:ext cx="1536192" cy="457200"/>
          </a:xfrm>
          <a:prstGeom prst="roundRect">
            <a:avLst>
              <a:gd name="adj" fmla="val 20000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4937760"/>
            <a:ext cx="1536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가이드 랩 6개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340864" y="4937760"/>
            <a:ext cx="969264" cy="457200"/>
          </a:xfrm>
          <a:prstGeom prst="roundRect">
            <a:avLst>
              <a:gd name="adj" fmla="val 20000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340864" y="4937760"/>
            <a:ext cx="9692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29단계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474720" y="4937760"/>
            <a:ext cx="1110996" cy="457200"/>
          </a:xfrm>
          <a:prstGeom prst="roundRect">
            <a:avLst>
              <a:gd name="adj" fmla="val 20000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74720" y="4937760"/>
            <a:ext cx="11109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8개 언어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750308" y="4937760"/>
            <a:ext cx="1536192" cy="457200"/>
          </a:xfrm>
          <a:prstGeom prst="roundRect">
            <a:avLst>
              <a:gd name="adj" fmla="val 20000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50308" y="4937760"/>
            <a:ext cx="1536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공유 링크 1개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5852160"/>
            <a:ext cx="5943600" cy="603504"/>
          </a:xfrm>
          <a:prstGeom prst="roundRect">
            <a:avLst>
              <a:gd name="adj" fmla="val 18182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5852160"/>
            <a:ext cx="1920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라이브 워크숍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880360" y="5852160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FED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aka.ms/ai-agent-jumpstart-v2</a:t>
            </a:r>
            <a:endParaRPr lang="en-US" sz="1600" dirty="0"/>
          </a:p>
        </p:txBody>
      </p:sp>
      <p:pic>
        <p:nvPicPr>
          <p:cNvPr id="19" name="Image 0" descr="C:\D365DEMO\__Projects\Agent JumpStart 2\promo\img\cover-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1463040"/>
            <a:ext cx="4617720" cy="3255264"/>
          </a:xfrm>
          <a:prstGeom prst="ellipse">
            <a:avLst/>
          </a:prstGeom>
        </p:spPr>
      </p:pic>
      <p:sp>
        <p:nvSpPr>
          <p:cNvPr id="20" name="Shape 17"/>
          <p:cNvSpPr/>
          <p:nvPr/>
        </p:nvSpPr>
        <p:spPr>
          <a:xfrm>
            <a:off x="7315200" y="1463040"/>
            <a:ext cx="4617720" cy="3255264"/>
          </a:xfrm>
          <a:prstGeom prst="roundRect">
            <a:avLst>
              <a:gd name="adj" fmla="val 1685"/>
            </a:avLst>
          </a:prstGeom>
          <a:ln w="15875">
            <a:solidFill>
              <a:srgbClr val="3B3460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813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3035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🎬 한마디로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6675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C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스스로 진행되는 워크숍 — 학습자는 재생만 누르면 됩니다 ▶️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2286000"/>
            <a:ext cx="6126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800" dirty="0">
                <a:solidFill>
                  <a:srgbClr val="E4E2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JumpStart v2는 “슬라이드+데모” 세션을 직접 해보는 실시간 랩 앱으로 바꿉니다. 참가자는 링크 하나를 열고 언어를 선택해 실제 Agent를 단계별로 구축하며 — 여러분은 일일이 챙기는 대신 퍼실리테이션에 집중합니다.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76656" y="4379976"/>
            <a:ext cx="182880" cy="182880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6" name="Text 4"/>
          <p:cNvSpPr/>
          <p:nvPr/>
        </p:nvSpPr>
        <p:spPr>
          <a:xfrm>
            <a:off x="1042416" y="4297680"/>
            <a:ext cx="5760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D7D5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🖥️ 자기 주도, 브라우저 기반, 설치 불필요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76656" y="5038344"/>
            <a:ext cx="182880" cy="182880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8" name="Text 6"/>
          <p:cNvSpPr/>
          <p:nvPr/>
        </p:nvSpPr>
        <p:spPr>
          <a:xfrm>
            <a:off x="1042416" y="4956048"/>
            <a:ext cx="5760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D7D5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📋 모든 단계는 복사해 바로 쓰고 스크린샷으로 안내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76656" y="5696712"/>
            <a:ext cx="182880" cy="182880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10" name="Text 8"/>
          <p:cNvSpPr/>
          <p:nvPr/>
        </p:nvSpPr>
        <p:spPr>
          <a:xfrm>
            <a:off x="1042416" y="5614416"/>
            <a:ext cx="5760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D7D5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🤝 내부 역량 강화와 고객 워크숍 모두에 적합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315200" y="1965960"/>
            <a:ext cx="2286000" cy="2103120"/>
          </a:xfrm>
          <a:prstGeom prst="roundRect">
            <a:avLst>
              <a:gd name="adj" fmla="val 5217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0" y="21488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🧪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7315200" y="25146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5000" dirty="0"/>
          </a:p>
        </p:txBody>
      </p:sp>
      <p:sp>
        <p:nvSpPr>
          <p:cNvPr id="14" name="Text 12"/>
          <p:cNvSpPr/>
          <p:nvPr/>
        </p:nvSpPr>
        <p:spPr>
          <a:xfrm>
            <a:off x="7315200" y="3483864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4B1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랩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9802368" y="1965960"/>
            <a:ext cx="2286000" cy="2103120"/>
          </a:xfrm>
          <a:prstGeom prst="roundRect">
            <a:avLst>
              <a:gd name="adj" fmla="val 5217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802368" y="21488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👣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9802368" y="25146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</a:t>
            </a:r>
            <a:endParaRPr lang="en-US" sz="5000" dirty="0"/>
          </a:p>
        </p:txBody>
      </p:sp>
      <p:sp>
        <p:nvSpPr>
          <p:cNvPr id="18" name="Text 16"/>
          <p:cNvSpPr/>
          <p:nvPr/>
        </p:nvSpPr>
        <p:spPr>
          <a:xfrm>
            <a:off x="9802368" y="3483864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4B1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가이드 단계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7315200" y="4297680"/>
            <a:ext cx="2286000" cy="2103120"/>
          </a:xfrm>
          <a:prstGeom prst="roundRect">
            <a:avLst>
              <a:gd name="adj" fmla="val 5217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0" y="44805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🌍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7315200" y="484632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5000" dirty="0"/>
          </a:p>
        </p:txBody>
      </p:sp>
      <p:sp>
        <p:nvSpPr>
          <p:cNvPr id="22" name="Text 20"/>
          <p:cNvSpPr/>
          <p:nvPr/>
        </p:nvSpPr>
        <p:spPr>
          <a:xfrm>
            <a:off x="7315200" y="5815584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4B1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 언어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9802368" y="4297680"/>
            <a:ext cx="2286000" cy="2103120"/>
          </a:xfrm>
          <a:prstGeom prst="roundRect">
            <a:avLst>
              <a:gd name="adj" fmla="val 5217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802368" y="44805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🔁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9802368" y="484632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∞</a:t>
            </a:r>
            <a:endParaRPr lang="en-US" sz="5000" dirty="0"/>
          </a:p>
        </p:txBody>
      </p:sp>
      <p:sp>
        <p:nvSpPr>
          <p:cNvPr id="26" name="Text 24"/>
          <p:cNvSpPr/>
          <p:nvPr/>
        </p:nvSpPr>
        <p:spPr>
          <a:xfrm>
            <a:off x="9802368" y="5815584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4B1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재사용, 모든 고객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0F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3035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🧭 학습 경로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C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여섯 개의 랩, 첫 Agent부터 실시간 음성까지 🎙️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3529584" cy="2084832"/>
          </a:xfrm>
          <a:prstGeom prst="roundRect">
            <a:avLst>
              <a:gd name="adj" fmla="val 5263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36976" y="221284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🤖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932688" y="226771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32688" y="2615184"/>
            <a:ext cx="2944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Maker 만나기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32688" y="3163824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Microsoft.com + Microsoft Learn MCP로 근거 있는 다국어 Agent 구축.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52544" y="2011680"/>
            <a:ext cx="3529584" cy="2084832"/>
          </a:xfrm>
          <a:prstGeom prst="roundRect">
            <a:avLst>
              <a:gd name="adj" fmla="val 5263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949440" y="221284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🗂️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645152" y="226771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645152" y="2615184"/>
            <a:ext cx="2944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비즈니스 컨텍스트 가져오기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645152" y="3163824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Dataverse MCP, 재사용 가능한 Skills, Memory, CoWork 고객 360 워크플로.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065008" y="2011680"/>
            <a:ext cx="3529584" cy="2084832"/>
          </a:xfrm>
          <a:prstGeom prst="roundRect">
            <a:avLst>
              <a:gd name="adj" fmla="val 5263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661904" y="221284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8357616" y="226771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357616" y="2615184"/>
            <a:ext cx="2944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기반 RFP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357616" y="3163824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 IQ + Microsoft IQ가 Office 전반에서 출처 있는 RFP/RFI 응답 생성.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40080" y="4297680"/>
            <a:ext cx="3529584" cy="2084832"/>
          </a:xfrm>
          <a:prstGeom prst="roundRect">
            <a:avLst>
              <a:gd name="adj" fmla="val 5263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36976" y="449884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🔌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932688" y="455371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32688" y="4901184"/>
            <a:ext cx="2944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전문 Agent 연결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932688" y="5449824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ServiceNow 지식 + 티켓, 연결된 Agent, Teams 및 M365 Copilot.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352544" y="4297680"/>
            <a:ext cx="3529584" cy="2084832"/>
          </a:xfrm>
          <a:prstGeom prst="roundRect">
            <a:avLst>
              <a:gd name="adj" fmla="val 5263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949440" y="449884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📨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4645152" y="455371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4645152" y="4901184"/>
            <a:ext cx="2944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멀티 Agent 이메일 워크플로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4645152" y="5449824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수신 메일 분류 → 적합한 Agent로 라우팅 → 맞춤형 회신.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8065008" y="4297680"/>
            <a:ext cx="3529584" cy="2084832"/>
          </a:xfrm>
          <a:prstGeom prst="roundRect">
            <a:avLst>
              <a:gd name="adj" fmla="val 5263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661904" y="449884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🎙️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8357616" y="455371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8357616" y="4901184"/>
            <a:ext cx="2944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실시간 음성 Agent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8357616" y="5449824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클래식 Agent + 실시간 음성, 다국어, 테스트 창에서 실시간 검증.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D365DEMO\__Projects\Agent JumpStart 2\promo\img\agent-platform-blueprint-k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6149" y="155448"/>
            <a:ext cx="11639398" cy="654710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813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3035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고유 기능 01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5760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C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설계부터 다국어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2194560"/>
            <a:ext cx="54406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800" dirty="0">
                <a:solidFill>
                  <a:srgbClr val="E4E2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클릭 한 번으로 English, 简体中文, 廣東話(香港), 繁體中文(台灣), 日本語, 한국어, ไทย, हिन्दी 사이에서 랩 경험 전체(같은 페이지, 안내, 사이드바, UI)가 전환됩니다.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76656" y="4187952"/>
            <a:ext cx="182880" cy="182880"/>
          </a:xfrm>
          <a:prstGeom prst="ellipse">
            <a:avLst/>
          </a:prstGeom>
          <a:solidFill>
            <a:srgbClr val="F472B6"/>
          </a:solidFill>
          <a:ln/>
        </p:spPr>
      </p:sp>
      <p:sp>
        <p:nvSpPr>
          <p:cNvPr id="6" name="Text 4"/>
          <p:cNvSpPr/>
          <p:nvPr/>
        </p:nvSpPr>
        <p:spPr>
          <a:xfrm>
            <a:off x="1042416" y="411480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D7D5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제품명, 프롬프트, 도구 이름은 의도적으로 영어 유지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76656" y="4846320"/>
            <a:ext cx="182880" cy="182880"/>
          </a:xfrm>
          <a:prstGeom prst="ellipse">
            <a:avLst/>
          </a:prstGeom>
          <a:solidFill>
            <a:srgbClr val="F472B6"/>
          </a:solidFill>
          <a:ln/>
        </p:spPr>
      </p:sp>
      <p:sp>
        <p:nvSpPr>
          <p:cNvPr id="8" name="Text 6"/>
          <p:cNvSpPr/>
          <p:nvPr/>
        </p:nvSpPr>
        <p:spPr>
          <a:xfrm>
            <a:off x="1042416" y="4773168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D7D5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복사해 쓰는 프롬프트가 “번역으로 왜곡”되지 않습니다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76656" y="5504688"/>
            <a:ext cx="182880" cy="182880"/>
          </a:xfrm>
          <a:prstGeom prst="ellipse">
            <a:avLst/>
          </a:prstGeom>
          <a:solidFill>
            <a:srgbClr val="F472B6"/>
          </a:solidFill>
          <a:ln/>
        </p:spPr>
      </p:sp>
      <p:sp>
        <p:nvSpPr>
          <p:cNvPr id="10" name="Text 8"/>
          <p:cNvSpPr/>
          <p:nvPr/>
        </p:nvSpPr>
        <p:spPr>
          <a:xfrm>
            <a:off x="1042416" y="5431536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D7D5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현지화된 스크린샷이 없으면 자동으로 영어 스크린샷으로 대체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40080" y="5989320"/>
            <a:ext cx="1051560" cy="658368"/>
          </a:xfrm>
          <a:prstGeom prst="roundRect">
            <a:avLst>
              <a:gd name="adj" fmla="val 13889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5989320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FE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1874520" y="5989320"/>
            <a:ext cx="1051560" cy="658368"/>
          </a:xfrm>
          <a:prstGeom prst="roundRect">
            <a:avLst>
              <a:gd name="adj" fmla="val 13889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874520" y="5989320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FE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简体中文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3108960" y="5989320"/>
            <a:ext cx="1051560" cy="658368"/>
          </a:xfrm>
          <a:prstGeom prst="roundRect">
            <a:avLst>
              <a:gd name="adj" fmla="val 13889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108960" y="5989320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FE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廣東話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4343400" y="5989320"/>
            <a:ext cx="1051560" cy="658368"/>
          </a:xfrm>
          <a:prstGeom prst="roundRect">
            <a:avLst>
              <a:gd name="adj" fmla="val 13889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43400" y="5989320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FE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繁體中文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577840" y="5989320"/>
            <a:ext cx="1051560" cy="658368"/>
          </a:xfrm>
          <a:prstGeom prst="roundRect">
            <a:avLst>
              <a:gd name="adj" fmla="val 13889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577840" y="5989320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FE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日本語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6812280" y="5989320"/>
            <a:ext cx="1051560" cy="658368"/>
          </a:xfrm>
          <a:prstGeom prst="roundRect">
            <a:avLst>
              <a:gd name="adj" fmla="val 13889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12280" y="5989320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FE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한국어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8046720" y="5989320"/>
            <a:ext cx="1051560" cy="658368"/>
          </a:xfrm>
          <a:prstGeom prst="roundRect">
            <a:avLst>
              <a:gd name="adj" fmla="val 13889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046720" y="5989320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FE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ไทย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9281160" y="5989320"/>
            <a:ext cx="1051560" cy="658368"/>
          </a:xfrm>
          <a:prstGeom prst="roundRect">
            <a:avLst>
              <a:gd name="adj" fmla="val 13889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281160" y="5989320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FE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हिन्दी</a:t>
            </a:r>
            <a:endParaRPr lang="en-US" sz="1800" dirty="0"/>
          </a:p>
        </p:txBody>
      </p:sp>
      <p:pic>
        <p:nvPicPr>
          <p:cNvPr id="27" name="Image 0" descr="C:\D365DEMO\__Projects\Agent JumpStart 2\promo\img\lab-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0" y="1783080"/>
            <a:ext cx="3246120" cy="2276856"/>
          </a:xfrm>
          <a:prstGeom prst="ellipse">
            <a:avLst/>
          </a:prstGeom>
        </p:spPr>
      </p:pic>
      <p:sp>
        <p:nvSpPr>
          <p:cNvPr id="28" name="Shape 25"/>
          <p:cNvSpPr/>
          <p:nvPr/>
        </p:nvSpPr>
        <p:spPr>
          <a:xfrm>
            <a:off x="6355080" y="1783080"/>
            <a:ext cx="3246120" cy="2276856"/>
          </a:xfrm>
          <a:prstGeom prst="roundRect">
            <a:avLst>
              <a:gd name="adj" fmla="val 2410"/>
            </a:avLst>
          </a:prstGeom>
          <a:ln w="15875">
            <a:solidFill>
              <a:srgbClr val="3B3460"/>
            </a:solidFill>
            <a:prstDash val="solid"/>
          </a:ln>
        </p:spPr>
      </p:sp>
      <p:pic>
        <p:nvPicPr>
          <p:cNvPr id="29" name="Image 1" descr="C:\D365DEMO\__Projects\Agent JumpStart 2\promo\img\lab-z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8200" y="3703320"/>
            <a:ext cx="3246120" cy="2276856"/>
          </a:xfrm>
          <a:prstGeom prst="ellipse">
            <a:avLst/>
          </a:prstGeom>
        </p:spPr>
      </p:pic>
      <p:sp>
        <p:nvSpPr>
          <p:cNvPr id="30" name="Shape 26"/>
          <p:cNvSpPr/>
          <p:nvPr/>
        </p:nvSpPr>
        <p:spPr>
          <a:xfrm>
            <a:off x="8458200" y="3703320"/>
            <a:ext cx="3246120" cy="2276856"/>
          </a:xfrm>
          <a:prstGeom prst="roundRect">
            <a:avLst>
              <a:gd name="adj" fmla="val 2410"/>
            </a:avLst>
          </a:prstGeom>
          <a:ln w="15875">
            <a:solidFill>
              <a:srgbClr val="3B3460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0F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3035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고유 기능 02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6400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C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해보며 배우는, 정말 즐거운 UX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A78BFA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11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◆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371600" y="1993392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Markdown이 풍부한 단계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71600" y="237744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4B1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제목, 표, 콜아웃, 강조가 아름답게 렌더링.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907792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A78BFA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9077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◆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371600" y="2889504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복사해 바로 쓰는 프롬프트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371600" y="3273552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4B1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지침을 클릭 한 번으로 클립보드에.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A78BFA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8039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◆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371600" y="3785616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상황 추적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371600" y="4169664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4B1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29단계의 단계별 완료를 로컬 저장.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4700016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A78BFA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47000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◆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371600" y="4681728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 시 불꽃놀이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371600" y="5065776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4B1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단계를 마칠 때마다 축하 연출로 보상.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40080" y="5596128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A78BFA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55961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◆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1371600" y="557784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글래스 UI, 라이트 &amp; 다크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371600" y="5961888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4B1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모던한 프로스트 글래스 디자인, 어디서나 테마 대응.</a:t>
            </a:r>
            <a:endParaRPr lang="en-US" sz="1400" dirty="0"/>
          </a:p>
        </p:txBody>
      </p:sp>
      <p:pic>
        <p:nvPicPr>
          <p:cNvPr id="24" name="Image 0" descr="C:\D365DEMO\__Projects\Agent JumpStart 2\promo\img\lab-over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0" y="1874520"/>
            <a:ext cx="4663440" cy="3346704"/>
          </a:xfrm>
          <a:prstGeom prst="ellipse">
            <a:avLst/>
          </a:prstGeom>
        </p:spPr>
      </p:pic>
      <p:sp>
        <p:nvSpPr>
          <p:cNvPr id="25" name="Shape 22"/>
          <p:cNvSpPr/>
          <p:nvPr/>
        </p:nvSpPr>
        <p:spPr>
          <a:xfrm>
            <a:off x="6903720" y="1874520"/>
            <a:ext cx="4663440" cy="3346704"/>
          </a:xfrm>
          <a:prstGeom prst="roundRect">
            <a:avLst>
              <a:gd name="adj" fmla="val 1639"/>
            </a:avLst>
          </a:prstGeom>
          <a:ln w="15875">
            <a:solidFill>
              <a:srgbClr val="3B3460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813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3035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고유 기능 03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C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몇 초 만에 전용 워크숍을 공동 브랜딩</a:t>
            </a:r>
            <a:endParaRPr lang="en-US" sz="3000" dirty="0"/>
          </a:p>
        </p:txBody>
      </p:sp>
      <p:pic>
        <p:nvPicPr>
          <p:cNvPr id="4" name="Image 0" descr="C:\D365DEMO\__Projects\Agent JumpStart 2\promo\img\cover-lenov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920240"/>
            <a:ext cx="5120640" cy="3584448"/>
          </a:xfrm>
          <a:prstGeom prst="ellipse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1920240"/>
            <a:ext cx="5120640" cy="3584448"/>
          </a:xfrm>
          <a:prstGeom prst="roundRect">
            <a:avLst>
              <a:gd name="adj" fmla="val 1531"/>
            </a:avLst>
          </a:prstGeom>
          <a:ln w="15875">
            <a:solidFill>
              <a:srgbClr val="3B346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126480" y="2057400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F472B6"/>
          </a:solidFill>
          <a:ln/>
        </p:spPr>
      </p:sp>
      <p:sp>
        <p:nvSpPr>
          <p:cNvPr id="7" name="Text 4"/>
          <p:cNvSpPr/>
          <p:nvPr/>
        </p:nvSpPr>
        <p:spPr>
          <a:xfrm>
            <a:off x="6126480" y="20574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◇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858000" y="203911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Microsoft × 고객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6858000" y="2441448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이름이나 로고를 설정하고 참가자 이메일을 등록해 랩 접근을 확인 — 표지가 즉시 공동 브랜딩.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126480" y="3017520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F472B6"/>
          </a:solidFill>
          <a:ln/>
        </p:spPr>
      </p:sp>
      <p:sp>
        <p:nvSpPr>
          <p:cNvPr id="11" name="Text 8"/>
          <p:cNvSpPr/>
          <p:nvPr/>
        </p:nvSpPr>
        <p:spPr>
          <a:xfrm>
            <a:off x="6126480" y="3017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◇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6858000" y="299923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및 재사용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6858000" y="3401568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워크숍 기록: 과거 설정을 저장, 불러오기, 빠른 검색.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126480" y="3977640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F472B6"/>
          </a:solidFill>
          <a:ln/>
        </p:spPr>
      </p:sp>
      <p:sp>
        <p:nvSpPr>
          <p:cNvPr id="15" name="Text 12"/>
          <p:cNvSpPr/>
          <p:nvPr/>
        </p:nvSpPr>
        <p:spPr>
          <a:xfrm>
            <a:off x="6126480" y="3977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◇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6858000" y="395935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로고는 URL 또는 업로드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6858000" y="4361688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완결 — 외부 이미지 호스팅 불필요.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126480" y="4937760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F472B6"/>
          </a:solidFill>
          <a:ln/>
        </p:spPr>
      </p:sp>
      <p:sp>
        <p:nvSpPr>
          <p:cNvPr id="19" name="Text 16"/>
          <p:cNvSpPr/>
          <p:nvPr/>
        </p:nvSpPr>
        <p:spPr>
          <a:xfrm>
            <a:off x="6126480" y="4937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◇</a:t>
            </a:r>
            <a:endParaRPr lang="en-US" sz="1700" dirty="0"/>
          </a:p>
        </p:txBody>
      </p:sp>
      <p:sp>
        <p:nvSpPr>
          <p:cNvPr id="20" name="Text 17"/>
          <p:cNvSpPr/>
          <p:nvPr/>
        </p:nvSpPr>
        <p:spPr>
          <a:xfrm>
            <a:off x="6858000" y="491947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비밀번호 보호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6858000" y="5321808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브랜딩 변경은 퍼실리테이터만 — 편집 모드와 동일한 게이트.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0F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3035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고유 기능 04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C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 게시하면 — 모두가 봅니다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2514600" cy="2880360"/>
          </a:xfrm>
          <a:prstGeom prst="roundRect">
            <a:avLst>
              <a:gd name="adj" fmla="val 4364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441448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A78BFA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4414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3209544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C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로컬에서 구성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14400" y="3776472"/>
            <a:ext cx="20391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7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메이커 뷰에서 브랜딩 설정 및 랩 콘텐츠 편집.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118104" y="3246120"/>
            <a:ext cx="384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3493008" y="2148840"/>
            <a:ext cx="2514600" cy="2880360"/>
          </a:xfrm>
          <a:prstGeom prst="roundRect">
            <a:avLst>
              <a:gd name="adj" fmla="val 4364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767328" y="2441448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A78BFA"/>
          </a:solidFill>
          <a:ln/>
        </p:spPr>
      </p:sp>
      <p:sp>
        <p:nvSpPr>
          <p:cNvPr id="12" name="Text 10"/>
          <p:cNvSpPr/>
          <p:nvPr/>
        </p:nvSpPr>
        <p:spPr>
          <a:xfrm>
            <a:off x="3767328" y="24414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767328" y="3209544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C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및 커밋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3767328" y="3776472"/>
            <a:ext cx="20391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7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브랜딩과 콘텐츠는 branding.json + labs.json으로 배포.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971032" y="3246120"/>
            <a:ext cx="384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6345936" y="2148840"/>
            <a:ext cx="2514600" cy="2880360"/>
          </a:xfrm>
          <a:prstGeom prst="roundRect">
            <a:avLst>
              <a:gd name="adj" fmla="val 4364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620256" y="2441448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A78BFA"/>
          </a:solidFill>
          <a:ln/>
        </p:spPr>
      </p:sp>
      <p:sp>
        <p:nvSpPr>
          <p:cNvPr id="18" name="Text 16"/>
          <p:cNvSpPr/>
          <p:nvPr/>
        </p:nvSpPr>
        <p:spPr>
          <a:xfrm>
            <a:off x="6620256" y="24414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620256" y="3209544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C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배포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6620256" y="3776472"/>
            <a:ext cx="20391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7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푸시할 때마다 GitHub Actions가 빌드하여 GitHub Pages에 게시.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823960" y="3246120"/>
            <a:ext cx="384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9198864" y="2148840"/>
            <a:ext cx="2514600" cy="2880360"/>
          </a:xfrm>
          <a:prstGeom prst="roundRect">
            <a:avLst>
              <a:gd name="adj" fmla="val 4364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473184" y="2441448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F472B6"/>
          </a:solidFill>
          <a:ln/>
        </p:spPr>
      </p:sp>
      <p:sp>
        <p:nvSpPr>
          <p:cNvPr id="24" name="Text 22"/>
          <p:cNvSpPr/>
          <p:nvPr/>
        </p:nvSpPr>
        <p:spPr>
          <a:xfrm>
            <a:off x="9473184" y="24414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473184" y="3209544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C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모두가 봅니다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9473184" y="3776472"/>
            <a:ext cx="20391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7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참가자는 라이브 URL만 열면 — 같은 콘텐츠, 같은 브랜드.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40080" y="54406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B4B1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사용자별 설정이 필요 없습니다. 게시된 파일이 모든 방문자의 단일 진실 소스입니다.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813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D365DEMO\__Projects\Agent JumpStart 2\promo\img\jumpstart-kore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3813048" cy="5724144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85800" y="566928"/>
            <a:ext cx="3813048" cy="5724144"/>
          </a:xfrm>
          <a:prstGeom prst="roundRect">
            <a:avLst>
              <a:gd name="adj" fmla="val 1439"/>
            </a:avLst>
          </a:prstGeom>
          <a:ln w="15875">
            <a:solidFill>
              <a:srgbClr val="3B3460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502920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⚡ JumpStart V2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5029200" y="960120"/>
            <a:ext cx="6583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C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랩에서 임팩트로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5029200" y="1965960"/>
            <a:ext cx="640080" cy="640080"/>
          </a:xfrm>
          <a:prstGeom prst="roundRect">
            <a:avLst>
              <a:gd name="adj" fmla="val 18571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029200" y="1965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⚡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5852160" y="1947672"/>
            <a:ext cx="585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C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빠른 시작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5852160" y="2331720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B4B1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링크 하나로 시작 — 설치도 설정도 없이.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5029200" y="2862072"/>
            <a:ext cx="640080" cy="640080"/>
          </a:xfrm>
          <a:prstGeom prst="roundRect">
            <a:avLst>
              <a:gd name="adj" fmla="val 18571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029200" y="286207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🙌</a:t>
            </a:r>
            <a:endParaRPr lang="en-US" sz="2400" dirty="0"/>
          </a:p>
        </p:txBody>
      </p:sp>
      <p:sp>
        <p:nvSpPr>
          <p:cNvPr id="12" name="Text 9"/>
          <p:cNvSpPr/>
          <p:nvPr/>
        </p:nvSpPr>
        <p:spPr>
          <a:xfrm>
            <a:off x="5852160" y="2843784"/>
            <a:ext cx="585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C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셀프 서비스 &amp; 자기 주도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5852160" y="3227832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B4B1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참가자가 스스로 진행하고 당신은 퍼실리테이션.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5029200" y="3758184"/>
            <a:ext cx="640080" cy="640080"/>
          </a:xfrm>
          <a:prstGeom prst="roundRect">
            <a:avLst>
              <a:gd name="adj" fmla="val 18571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0" y="3758184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📋</a:t>
            </a:r>
            <a:endParaRPr lang="en-US" sz="2400" dirty="0"/>
          </a:p>
        </p:txBody>
      </p:sp>
      <p:sp>
        <p:nvSpPr>
          <p:cNvPr id="16" name="Text 13"/>
          <p:cNvSpPr/>
          <p:nvPr/>
        </p:nvSpPr>
        <p:spPr>
          <a:xfrm>
            <a:off x="5852160" y="3739896"/>
            <a:ext cx="585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C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복사하고 빌드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5852160" y="4123944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B4B1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복사 가능한 프롬프트로 각 단계를 진짜 작동하는 Agent로.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5029200" y="4654296"/>
            <a:ext cx="640080" cy="640080"/>
          </a:xfrm>
          <a:prstGeom prst="roundRect">
            <a:avLst>
              <a:gd name="adj" fmla="val 18571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029200" y="4654296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🌍</a:t>
            </a:r>
            <a:endParaRPr lang="en-US" sz="2400" dirty="0"/>
          </a:p>
        </p:txBody>
      </p:sp>
      <p:sp>
        <p:nvSpPr>
          <p:cNvPr id="20" name="Text 17"/>
          <p:cNvSpPr/>
          <p:nvPr/>
        </p:nvSpPr>
        <p:spPr>
          <a:xfrm>
            <a:off x="5852160" y="4636008"/>
            <a:ext cx="585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C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다국어 지원</a:t>
            </a:r>
            <a:endParaRPr lang="en-US" sz="1700" dirty="0"/>
          </a:p>
        </p:txBody>
      </p:sp>
      <p:sp>
        <p:nvSpPr>
          <p:cNvPr id="21" name="Text 18"/>
          <p:cNvSpPr/>
          <p:nvPr/>
        </p:nvSpPr>
        <p:spPr>
          <a:xfrm>
            <a:off x="5852160" y="5020056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B4B1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여덟 개 언어, 하나의 공유 링크.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5029200" y="5550408"/>
            <a:ext cx="640080" cy="640080"/>
          </a:xfrm>
          <a:prstGeom prst="roundRect">
            <a:avLst>
              <a:gd name="adj" fmla="val 18571"/>
            </a:avLst>
          </a:prstGeom>
          <a:solidFill>
            <a:srgbClr val="A78BFA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029200" y="555040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🚀</a:t>
            </a:r>
            <a:endParaRPr lang="en-US" sz="2400" dirty="0"/>
          </a:p>
        </p:txBody>
      </p:sp>
      <p:sp>
        <p:nvSpPr>
          <p:cNvPr id="24" name="Text 21"/>
          <p:cNvSpPr/>
          <p:nvPr/>
        </p:nvSpPr>
        <p:spPr>
          <a:xfrm>
            <a:off x="5852160" y="5532120"/>
            <a:ext cx="585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C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랩에서 임팩트로</a:t>
            </a:r>
            <a:endParaRPr lang="en-US" sz="1700" dirty="0"/>
          </a:p>
        </p:txBody>
      </p:sp>
      <p:sp>
        <p:nvSpPr>
          <p:cNvPr id="25" name="Text 22"/>
          <p:cNvSpPr/>
          <p:nvPr/>
        </p:nvSpPr>
        <p:spPr>
          <a:xfrm>
            <a:off x="5852160" y="5916168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B4B1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비즈니스 가치를 주는 Agent를 빠르게 제공.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0F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194560" y="-2743200"/>
            <a:ext cx="6858000" cy="6858000"/>
          </a:xfrm>
          <a:prstGeom prst="ellipse">
            <a:avLst/>
          </a:prstGeom>
          <a:solidFill>
            <a:srgbClr val="7C3AED">
              <a:alpha val="2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412480" y="4023360"/>
            <a:ext cx="6400800" cy="6400800"/>
          </a:xfrm>
          <a:prstGeom prst="ellipse">
            <a:avLst/>
          </a:prstGeom>
          <a:solidFill>
            <a:srgbClr val="EC4899">
              <a:alpha val="1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66928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472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● </a:t>
            </a:r>
            <a:pPr algn="l" indent="0" marL="0">
              <a:buNone/>
            </a:pPr>
            <a:r>
              <a:rPr lang="en-US" sz="1200" b="1" dirty="0">
                <a:solidFill>
                  <a:srgbClr val="E9E6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언제든 준비 완료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03504" y="1207008"/>
            <a:ext cx="7040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600" b="1" dirty="0">
                <a:solidFill>
                  <a:srgbClr val="EC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Agent Workshop을 다음 고객 워크숍으로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640080" y="2788920"/>
            <a:ext cx="70408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CFCD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내부 역량 강화든 외부 고객 행사든 — 공동 브랜딩하고 링크를 공유해 참가자가 실제 Agent를 직접 만들게 하세요.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611880"/>
            <a:ext cx="4114800" cy="1005840"/>
          </a:xfrm>
          <a:prstGeom prst="roundRect">
            <a:avLst>
              <a:gd name="adj" fmla="val 10909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pic>
        <p:nvPicPr>
          <p:cNvPr id="8" name="Image 0" descr="C:\D365DEMO\__Projects\Agent JumpStart 2\promo\img\micha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3785616"/>
            <a:ext cx="658368" cy="658368"/>
          </a:xfrm>
          <a:prstGeom prst="ellipse">
            <a:avLst/>
          </a:prstGeom>
        </p:spPr>
      </p:pic>
      <p:sp>
        <p:nvSpPr>
          <p:cNvPr id="9" name="Text 6"/>
          <p:cNvSpPr/>
          <p:nvPr/>
        </p:nvSpPr>
        <p:spPr>
          <a:xfrm>
            <a:off x="1627632" y="3803904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C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Michael Jiang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627632" y="4169664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D3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zhijian@microsoft.com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40080" y="4828032"/>
            <a:ext cx="7040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B4B1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Microsoft MCAPS Core — Agent Asia Team</a:t>
            </a:r>
            <a:endParaRPr lang="en-US" sz="1250" dirty="0"/>
          </a:p>
        </p:txBody>
      </p:sp>
      <p:pic>
        <p:nvPicPr>
          <p:cNvPr id="12" name="Image 1" descr="C:\D365DEMO\__Projects\Agent JumpStart 2\promo\img\ai-agent-jumpstart-hero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234440"/>
            <a:ext cx="3611880" cy="361188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7703820" y="5029200"/>
            <a:ext cx="4206240" cy="932688"/>
          </a:xfrm>
          <a:prstGeom prst="roundRect">
            <a:avLst>
              <a:gd name="adj" fmla="val 11765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7886700" y="517550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라이브 워크숍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7886700" y="5449824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FED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aka.ms/ai-agent-workshop-v2</a:t>
            </a:r>
            <a:endParaRPr lang="en-US" sz="1700" dirty="0"/>
          </a:p>
        </p:txBody>
      </p:sp>
      <p:sp>
        <p:nvSpPr>
          <p:cNvPr id="16" name="Text 12"/>
          <p:cNvSpPr/>
          <p:nvPr/>
        </p:nvSpPr>
        <p:spPr>
          <a:xfrm>
            <a:off x="640080" y="546811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B4B1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Agent Workshop v-Team의 기여에 감사드립니다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640080" y="6236208"/>
            <a:ext cx="1554480" cy="347472"/>
          </a:xfrm>
          <a:prstGeom prst="roundRect">
            <a:avLst>
              <a:gd name="adj" fmla="val 26316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40080" y="623620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FE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Nalin Shukla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2359152" y="6236208"/>
            <a:ext cx="1463040" cy="347472"/>
          </a:xfrm>
          <a:prstGeom prst="roundRect">
            <a:avLst>
              <a:gd name="adj" fmla="val 26316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2359152" y="6236208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FE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Scott Berry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3986784" y="6236208"/>
            <a:ext cx="1188720" cy="347472"/>
          </a:xfrm>
          <a:prstGeom prst="roundRect">
            <a:avLst>
              <a:gd name="adj" fmla="val 26316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3986784" y="623620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FE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Steve Ng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5340096" y="6236208"/>
            <a:ext cx="1828800" cy="347472"/>
          </a:xfrm>
          <a:prstGeom prst="roundRect">
            <a:avLst>
              <a:gd name="adj" fmla="val 26316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5340096" y="623620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FED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Anand Ponnusamy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Agent Workshop by Microsoft Agent GBB - Highlights</dc:title>
  <dc:subject>PptxGenJS Presentation</dc:subject>
  <dc:creator>Microsoft MCAPS Core - Agent Asia Team</dc:creator>
  <cp:lastModifiedBy>Microsoft MCAPS Core - Agent Asia Team</cp:lastModifiedBy>
  <cp:revision>1</cp:revision>
  <dcterms:created xsi:type="dcterms:W3CDTF">2026-08-17T14:41:46Z</dcterms:created>
  <dcterms:modified xsi:type="dcterms:W3CDTF">2026-08-17T14:41:46Z</dcterms:modified>
</cp:coreProperties>
</file>