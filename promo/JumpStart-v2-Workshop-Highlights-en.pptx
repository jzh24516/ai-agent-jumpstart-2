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640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Copilot Studio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37160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 Agent JumpStart</a:t>
            </a:r>
            <a:endParaRPr lang="en-US" sz="46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Workshop v2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603504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00" dirty="0">
                <a:solidFill>
                  <a:srgbClr val="CFCD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hands-on, self-guided, multilingual lab experience for building the full breadth of custom agents in Microsoft Copilot Studio.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434840"/>
            <a:ext cx="6035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MCAPS Core — Agent Asia Team   ·   July 16, 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1567282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937760"/>
            <a:ext cx="15672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guided labs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371954" y="4937760"/>
            <a:ext cx="1119226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1954" y="4937760"/>
            <a:ext cx="11192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29 steps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5771" y="4937760"/>
            <a:ext cx="1388059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5771" y="4937760"/>
            <a:ext cx="13880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languages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08422" y="4937760"/>
            <a:ext cx="1836115" cy="457200"/>
          </a:xfrm>
          <a:prstGeom prst="roundRect">
            <a:avLst>
              <a:gd name="adj" fmla="val 20000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08422" y="4937760"/>
            <a:ext cx="18361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shareable link</a:t>
            </a:r>
            <a:endParaRPr lang="en-US" sz="1200" dirty="0"/>
          </a:p>
        </p:txBody>
      </p:sp>
      <p:pic>
        <p:nvPicPr>
          <p:cNvPr id="16" name="Image 0" descr="C:\D365DEMO\__Projects\Agent JumpStart 2\promo\img\cover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617720" cy="3255264"/>
          </a:xfrm>
          <a:prstGeom prst="ellipse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315200" y="1463040"/>
            <a:ext cx="4617720" cy="3255264"/>
          </a:xfrm>
          <a:prstGeom prst="roundRect">
            <a:avLst>
              <a:gd name="adj" fmla="val 1685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🎬 The one-liner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workshop that runs itself — learners just press play  ▶️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6126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JumpStart v2 turns a slide-and-demo session into a living, do-it-yourself lab app. Attendees open one link, pick their language, and build real agents step by step — while you facilitate instead of babysit.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379976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29768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Self-paced, browser-based, zero install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5038344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95604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step is copy-ready and screenshot-guided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696712"/>
            <a:ext cx="182880" cy="18288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61441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for internal enablement and customer workshops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🧪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7315200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 labs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802368" y="196596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02368" y="21488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02368" y="2514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29</a:t>
            </a:r>
            <a:endParaRPr lang="en-US" sz="5000" dirty="0"/>
          </a:p>
        </p:txBody>
      </p:sp>
      <p:sp>
        <p:nvSpPr>
          <p:cNvPr id="18" name="Text 16"/>
          <p:cNvSpPr/>
          <p:nvPr/>
        </p:nvSpPr>
        <p:spPr>
          <a:xfrm>
            <a:off x="9802368" y="348386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steps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315200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0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🌍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7315200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5000" dirty="0"/>
          </a:p>
        </p:txBody>
      </p:sp>
      <p:sp>
        <p:nvSpPr>
          <p:cNvPr id="22" name="Text 20"/>
          <p:cNvSpPr/>
          <p:nvPr/>
        </p:nvSpPr>
        <p:spPr>
          <a:xfrm>
            <a:off x="7315200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languages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9802368" y="4297680"/>
            <a:ext cx="2286000" cy="2103120"/>
          </a:xfrm>
          <a:prstGeom prst="roundRect">
            <a:avLst>
              <a:gd name="adj" fmla="val 5217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02368" y="44805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802368" y="4846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∞</a:t>
            </a:r>
            <a:endParaRPr lang="en-US" sz="5000" dirty="0"/>
          </a:p>
        </p:txBody>
      </p:sp>
      <p:sp>
        <p:nvSpPr>
          <p:cNvPr id="26" name="Text 24"/>
          <p:cNvSpPr/>
          <p:nvPr/>
        </p:nvSpPr>
        <p:spPr>
          <a:xfrm>
            <a:off x="9802368" y="581558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reuse, any customer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🧭 The learning path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Six labs, from first agent to real-time voice  🎙️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36976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32688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Meet the Agent Maker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a grounded, multilingual agent with Microsoft.com + Microsoft Learn MCP.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52544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🗂️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645152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45152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Bring in business context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45152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Dataverse MCP, reusable Skills, Memory, and a CoWork customer-360 workflow.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65008" y="2011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1904" y="2212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357616" y="2267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57616" y="2615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Evidence-based RFP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57616" y="3163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 IQ + Microsoft IQ generate sourced RFP/RFI responses across Office.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36976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🔌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932688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32688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Connect specialist agents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32688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ServiceNow knowledge + tickets, connected agents, Teams &amp; M365 Copilot.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352544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49440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📨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645152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45152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Multi-agent email Workflow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4645152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 inbound email, route to the right agent, personalized reply.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065008" y="4297680"/>
            <a:ext cx="3529584" cy="2084832"/>
          </a:xfrm>
          <a:prstGeom prst="roundRect">
            <a:avLst>
              <a:gd name="adj" fmla="val 5263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661904" y="449884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🎙️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8357616" y="455371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57616" y="4901184"/>
            <a:ext cx="29443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Real-time voice agent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357616" y="5449824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agent + real-time voice, multilingual, tested live in the Test window.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0D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agent-platform-blueprint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6149" y="155448"/>
            <a:ext cx="11639398" cy="65471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01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5760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Multilingual by 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54406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dirty="0">
                <a:solidFill>
                  <a:srgbClr val="E4E2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click switches the entire experience — cover, labs, instructions, and UI — between English, 中文, 日本語, 한국어, ไทย, and हिन्दी.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76656" y="4187952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41148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 names, prompts &amp; tool names stay in English on purpose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76656" y="4846320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477316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Copy-ready prompts never get "lost in translation"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76656" y="5504688"/>
            <a:ext cx="182880" cy="182880"/>
          </a:xfrm>
          <a:prstGeom prst="ellipse">
            <a:avLst/>
          </a:prstGeom>
          <a:solidFill>
            <a:srgbClr val="F472B6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543153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7D5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Screenshots fall back to English automatically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7452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7452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中文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0896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0896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日本語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34340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4340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한국어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57784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7784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ไทย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812280" y="5989320"/>
            <a:ext cx="1051560" cy="658368"/>
          </a:xfrm>
          <a:prstGeom prst="roundRect">
            <a:avLst>
              <a:gd name="adj" fmla="val 13889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5989320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FED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हिन्दी</a:t>
            </a:r>
            <a:endParaRPr lang="en-US" sz="1800" dirty="0"/>
          </a:p>
        </p:txBody>
      </p:sp>
      <p:pic>
        <p:nvPicPr>
          <p:cNvPr id="23" name="Image 0" descr="C:\D365DEMO\__Projects\Agent JumpStart 2\promo\img\lab-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83080"/>
            <a:ext cx="3246120" cy="2276856"/>
          </a:xfrm>
          <a:prstGeom prst="ellipse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355080" y="178308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  <p:pic>
        <p:nvPicPr>
          <p:cNvPr id="25" name="Image 1" descr="C:\D365DEMO\__Projects\Agent JumpStart 2\promo\img\lab-z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3703320"/>
            <a:ext cx="3246120" cy="2276856"/>
          </a:xfrm>
          <a:prstGeom prst="ellipse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8458200" y="3703320"/>
            <a:ext cx="3246120" cy="2276856"/>
          </a:xfrm>
          <a:prstGeom prst="roundRect">
            <a:avLst>
              <a:gd name="adj" fmla="val 2410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02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6400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learn-by-doing UX that's actually joyful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99339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Markdown-rich steps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23774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Headings, tables, callouts &amp; highlights render beautifully.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07792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907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8895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Copy-ready prompts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3273552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instruction is one click to clipboard.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803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785616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Progress tracking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4169664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Per-step completion across all 29 steps, saved locally.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4700016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7000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46817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Fireworks on completion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5065776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celebratory burst rewards every finished step.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59612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55961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◆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71600" y="55778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Glass UI, light &amp; dark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5961888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Modern frosted-glass design, theme-aware everywhere.</a:t>
            </a:r>
            <a:endParaRPr lang="en-US" sz="1400" dirty="0"/>
          </a:p>
        </p:txBody>
      </p:sp>
      <p:pic>
        <p:nvPicPr>
          <p:cNvPr id="24" name="Image 0" descr="C:\D365DEMO\__Projects\Agent JumpStart 2\promo\img\lab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874520"/>
            <a:ext cx="4663440" cy="3346704"/>
          </a:xfrm>
          <a:prstGeom prst="ellipse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6903720" y="1874520"/>
            <a:ext cx="4663440" cy="3346704"/>
          </a:xfrm>
          <a:prstGeom prst="roundRect">
            <a:avLst>
              <a:gd name="adj" fmla="val 1639"/>
            </a:avLst>
          </a:prstGeom>
          <a:ln w="15875">
            <a:solidFill>
              <a:srgbClr val="3B346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03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Co-brand a dedicated workshop in seconds</a:t>
            </a:r>
            <a:endParaRPr lang="en-US" sz="3000" dirty="0"/>
          </a:p>
        </p:txBody>
      </p:sp>
      <p:pic>
        <p:nvPicPr>
          <p:cNvPr id="4" name="Image 0" descr="C:\D365DEMO\__Projects\Agent JumpStart 2\promo\img\cover-lenov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920240"/>
            <a:ext cx="5120640" cy="3584448"/>
          </a:xfrm>
          <a:prstGeom prst="ellipse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920240"/>
            <a:ext cx="5120640" cy="3584448"/>
          </a:xfrm>
          <a:prstGeom prst="roundRect">
            <a:avLst>
              <a:gd name="adj" fmla="val 1531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126480" y="205740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7" name="Text 4"/>
          <p:cNvSpPr/>
          <p:nvPr/>
        </p:nvSpPr>
        <p:spPr>
          <a:xfrm>
            <a:off x="61264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858000" y="2039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 × Customer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858000" y="24414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a customer name or logo — the cover instantly co-brands.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26480" y="301752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1" name="Text 8"/>
          <p:cNvSpPr/>
          <p:nvPr/>
        </p:nvSpPr>
        <p:spPr>
          <a:xfrm>
            <a:off x="6126480" y="3017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858000" y="29992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Save &amp; reuse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858000" y="34015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history: save, retrieve, and quick-search past setups.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26480" y="397764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5" name="Text 12"/>
          <p:cNvSpPr/>
          <p:nvPr/>
        </p:nvSpPr>
        <p:spPr>
          <a:xfrm>
            <a:off x="6126480" y="3977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6858000" y="3959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Logos by URL or upload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6858000" y="436168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Self-contained — no external image hosting needed.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126480" y="4937760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19" name="Text 16"/>
          <p:cNvSpPr/>
          <p:nvPr/>
        </p:nvSpPr>
        <p:spPr>
          <a:xfrm>
            <a:off x="612648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◇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858000" y="491947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Password-gated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858000" y="53218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facilitators can change branding — same gate as edit mode.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Unique feature 04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Publish once — everyone sees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Configure locally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branding &amp; edit lab content in the maker view.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118104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93008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67328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3767328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767328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Apply &amp; commit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767328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Branding &amp; content ship as branding.json + labs.json.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71032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45936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0256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A78BFA"/>
          </a:solidFill>
          <a:ln/>
        </p:spPr>
      </p:sp>
      <p:sp>
        <p:nvSpPr>
          <p:cNvPr id="18" name="Text 16"/>
          <p:cNvSpPr/>
          <p:nvPr/>
        </p:nvSpPr>
        <p:spPr>
          <a:xfrm>
            <a:off x="6620256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620256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Auto-deploy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620256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builds &amp; publishes to GitHub Pages on every push.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23960" y="324612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98864" y="2148840"/>
            <a:ext cx="2514600" cy="2880360"/>
          </a:xfrm>
          <a:prstGeom prst="roundRect">
            <a:avLst>
              <a:gd name="adj" fmla="val 4364"/>
            </a:avLst>
          </a:prstGeom>
          <a:solidFill>
            <a:srgbClr val="2B2450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73184" y="2441448"/>
            <a:ext cx="566928" cy="566928"/>
          </a:xfrm>
          <a:prstGeom prst="roundRect">
            <a:avLst>
              <a:gd name="adj" fmla="val 17742"/>
            </a:avLst>
          </a:prstGeom>
          <a:solidFill>
            <a:srgbClr val="F472B6"/>
          </a:solidFill>
          <a:ln/>
        </p:spPr>
      </p:sp>
      <p:sp>
        <p:nvSpPr>
          <p:cNvPr id="24" name="Text 22"/>
          <p:cNvSpPr/>
          <p:nvPr/>
        </p:nvSpPr>
        <p:spPr>
          <a:xfrm>
            <a:off x="9473184" y="24414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473184" y="3209544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Everyone sees it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473184" y="3776472"/>
            <a:ext cx="20391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7000"/>
              </a:lnSpc>
              <a:buNone/>
            </a:pPr>
            <a:r>
              <a:rPr lang="en-US" sz="14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Attendees open the live URL — same content, same brand.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4406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per-user setup. The published files are the single source of truth for every visitor.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D365DEMO\__Projects\Agent JumpStart 2\promo\img\jumpstart-engli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3813048" cy="5724144"/>
          </a:xfrm>
          <a:prstGeom prst="ellipse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566928"/>
            <a:ext cx="3813048" cy="5724144"/>
          </a:xfrm>
          <a:prstGeom prst="roundRect">
            <a:avLst>
              <a:gd name="adj" fmla="val 1439"/>
            </a:avLst>
          </a:prstGeom>
          <a:ln w="15875">
            <a:solidFill>
              <a:srgbClr val="3B346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78BF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⚡ JumpStart V2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5029200" y="960120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Lab to Impact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029200" y="1965960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0" y="19659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852160" y="1947672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Fast Start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852160" y="23317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one link and go — zero install, zero setup.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0" y="2862072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862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🙌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5852160" y="2843784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Self-Serve &amp; Self-Paced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852160" y="3227832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Attendees drive their own journey while you facilitate.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029200" y="3758184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0" y="375818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5852160" y="373989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Copy &amp; Build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5852160" y="4123944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Copy-ready prompts turn each step into a real, working agent.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29200" y="4654296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029200" y="465429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🌍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5852160" y="463600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Multilingual Ready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852160" y="5020056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languages, one shareable link.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029200" y="5550408"/>
            <a:ext cx="640080" cy="640080"/>
          </a:xfrm>
          <a:prstGeom prst="roundRect">
            <a:avLst>
              <a:gd name="adj" fmla="val 18571"/>
            </a:avLst>
          </a:prstGeom>
          <a:solidFill>
            <a:srgbClr val="A78BFA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029200" y="55504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5852160" y="5532120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From Lab to Impact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5852160" y="5916168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agents that deliver real business value — fast.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F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-2743200"/>
            <a:ext cx="6858000" cy="68580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412480" y="4023360"/>
            <a:ext cx="6400800" cy="6400800"/>
          </a:xfrm>
          <a:prstGeom prst="ellipse">
            <a:avLst/>
          </a:prstGeom>
          <a:solidFill>
            <a:srgbClr val="EC4899">
              <a:alpha val="18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8229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72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● </a:t>
            </a:r>
            <a:pPr algn="l" indent="0" marL="0">
              <a:buNone/>
            </a:pPr>
            <a:r>
              <a:rPr lang="en-US" sz="1200" b="1" dirty="0">
                <a:solidFill>
                  <a:srgbClr val="E9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Ready when you are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03504" y="155448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Bring JumpStart v2 to your next customer workshop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7406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CFCD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Internal enablement or external customer event — co-brand it, share the link, and let attendees build real agents hands-on.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572000"/>
            <a:ext cx="3657600" cy="1051560"/>
          </a:xfrm>
          <a:prstGeom prst="roundRect">
            <a:avLst>
              <a:gd name="adj" fmla="val 10435"/>
            </a:avLst>
          </a:prstGeom>
          <a:solidFill>
            <a:srgbClr val="221C3F"/>
          </a:solidFill>
          <a:ln w="12700">
            <a:solidFill>
              <a:srgbClr val="3B346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2688" y="47274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Michael Jiang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32688" y="5129784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zhijian@microsoft.com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" y="58978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MCAPS Core — Agent Asia Team</a:t>
            </a:r>
            <a:endParaRPr lang="en-US" sz="1250" dirty="0"/>
          </a:p>
        </p:txBody>
      </p:sp>
      <p:pic>
        <p:nvPicPr>
          <p:cNvPr id="11" name="Image 0" descr="C:\D365DEMO\__Projects\Agent JumpStart 2\promo\img\micha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783080"/>
            <a:ext cx="2834640" cy="28346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275320" y="47091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ECF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Michael Jiang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275320" y="5102352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B1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 MCAPS Core — Agent Asia Team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JumpStart Workshop v2 - Highlights</dc:title>
  <dc:subject>PptxGenJS Presentation</dc:subject>
  <dc:creator>Microsoft MCAPS Core - Agent Asia Team</dc:creator>
  <cp:lastModifiedBy>Microsoft MCAPS Core - Agent Asia Team</cp:lastModifiedBy>
  <cp:revision>1</cp:revision>
  <dcterms:created xsi:type="dcterms:W3CDTF">2026-07-17T15:59:09Z</dcterms:created>
  <dcterms:modified xsi:type="dcterms:W3CDTF">2026-07-17T15:59:09Z</dcterms:modified>
</cp:coreProperties>
</file>