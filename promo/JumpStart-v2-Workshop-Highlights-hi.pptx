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743200"/>
            <a:ext cx="6858000" cy="6858000"/>
          </a:xfrm>
          <a:prstGeom prst="ellipse">
            <a:avLst/>
          </a:prstGeom>
          <a:solidFill>
            <a:srgbClr val="7C3AE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4023360"/>
            <a:ext cx="6400800" cy="6400800"/>
          </a:xfrm>
          <a:prstGeom prst="ellipse">
            <a:avLst/>
          </a:prstGeom>
          <a:solidFill>
            <a:srgbClr val="EC489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E9E6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Microsoft Copilot Studio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3504" y="137160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AI Agent JumpStart</a:t>
            </a:r>
            <a:endParaRPr lang="en-US" sz="4600" dirty="0"/>
          </a:p>
          <a:p>
            <a:pPr algn="l"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A78B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Workshop v2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246120"/>
            <a:ext cx="6035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dirty="0">
                <a:solidFill>
                  <a:srgbClr val="CFCDE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Microsoft Copilot Studio में कस्टम Agent की पूरी श्रृंखला बनाने के लिए एक व्यावहारिक, स्व-निर्देशित, बहुभाषी लैब अनुभव।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43484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Microsoft MCAPS Core — Agent Asia Team   ·   July 16,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4937760"/>
            <a:ext cx="1746504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93776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6 निर्देशित लैब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51176" y="4937760"/>
            <a:ext cx="940003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51176" y="4937760"/>
            <a:ext cx="94000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29 चरण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5771" y="4937760"/>
            <a:ext cx="1119226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5771" y="4937760"/>
            <a:ext cx="11192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8 भाषाएँ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39589" y="4937760"/>
            <a:ext cx="2373782" cy="457200"/>
          </a:xfrm>
          <a:prstGeom prst="roundRect">
            <a:avLst>
              <a:gd name="adj" fmla="val 20000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9589" y="4937760"/>
            <a:ext cx="23737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ED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 साझा करने योग्य लिंक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5852160"/>
            <a:ext cx="5943600" cy="603504"/>
          </a:xfrm>
          <a:prstGeom prst="roundRect">
            <a:avLst>
              <a:gd name="adj" fmla="val 18182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852160"/>
            <a:ext cx="1920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लाइव वर्कशॉप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80360" y="5852160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FED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aka.ms/ai-agent-jumpstart-v2</a:t>
            </a:r>
            <a:endParaRPr lang="en-US" sz="1600" dirty="0"/>
          </a:p>
        </p:txBody>
      </p:sp>
      <p:pic>
        <p:nvPicPr>
          <p:cNvPr id="19" name="Image 0" descr="C:\D365DEMO\__Projects\Agent JumpStart 2\promo\img\cover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463040"/>
            <a:ext cx="4617720" cy="3255264"/>
          </a:xfrm>
          <a:prstGeom prst="ellipse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7315200" y="1463040"/>
            <a:ext cx="4617720" cy="3255264"/>
          </a:xfrm>
          <a:prstGeom prst="roundRect">
            <a:avLst>
              <a:gd name="adj" fmla="val 1685"/>
            </a:avLst>
          </a:prstGeom>
          <a:ln w="15875">
            <a:solidFill>
              <a:srgbClr val="3B346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🎬 एक पंक्ति में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एक वर्कशॉप जो खुद चलती है — सीखने वाले बस प्ले दबाते हैं ▶️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6126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E4E2F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JumpStart v2 “स्लाइड और डेमो” सत्र को एक जीवंत, खुद-करें लैब ऐप में बदल देता है। प्रतिभागी एक लिंक खोलते हैं, अपनी भाषा चुनते हैं, और चरण-दर-चरण असली Agent बनाते हैं — जबकि आप देखरेख के बजाय मार्गदर्शन करते हैं।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76656" y="4379976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" y="429768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🖥️ स्व-गति, ब्राउज़र-आधारित, शून्य इंस्टॉल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" y="5038344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8" name="Text 6"/>
          <p:cNvSpPr/>
          <p:nvPr/>
        </p:nvSpPr>
        <p:spPr>
          <a:xfrm>
            <a:off x="1042416" y="495604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📋 हर चरण कॉपी-तैयार और स्क्रीनशॉट-निर्देशित है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6656" y="5696712"/>
            <a:ext cx="182880" cy="18288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0" name="Text 8"/>
          <p:cNvSpPr/>
          <p:nvPr/>
        </p:nvSpPr>
        <p:spPr>
          <a:xfrm>
            <a:off x="1042416" y="5614416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🤝 आंतरिक सक्षमता और ग्राहक वर्कशॉप दोनों के लिए उपयुक्त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0" y="196596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315200" y="2514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6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7315200" y="3483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व्यावहारिक लैब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802368" y="196596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802368" y="21488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👣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02368" y="25146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29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9802368" y="348386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निर्देशित चरण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0" y="429768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0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8</a:t>
            </a:r>
            <a:endParaRPr lang="en-US" sz="5000" dirty="0"/>
          </a:p>
        </p:txBody>
      </p:sp>
      <p:sp>
        <p:nvSpPr>
          <p:cNvPr id="22" name="Text 20"/>
          <p:cNvSpPr/>
          <p:nvPr/>
        </p:nvSpPr>
        <p:spPr>
          <a:xfrm>
            <a:off x="7315200" y="58155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भाषाएँ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802368" y="4297680"/>
            <a:ext cx="2286000" cy="2103120"/>
          </a:xfrm>
          <a:prstGeom prst="roundRect">
            <a:avLst>
              <a:gd name="adj" fmla="val 5217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02368" y="44805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802368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A78B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∞</a:t>
            </a:r>
            <a:endParaRPr lang="en-US" sz="5000" dirty="0"/>
          </a:p>
        </p:txBody>
      </p:sp>
      <p:sp>
        <p:nvSpPr>
          <p:cNvPr id="26" name="Text 24"/>
          <p:cNvSpPr/>
          <p:nvPr/>
        </p:nvSpPr>
        <p:spPr>
          <a:xfrm>
            <a:off x="9802368" y="581558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पुनः उपयोग, कोई भी ग्राहक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🧭 सीखने का मार्ग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छह लैब, पहले Agent से रीयल-टाइम आवाज़ तक 🎙️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36976" y="2212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32688" y="2267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32688" y="2615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Agent Maker से मिलें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32688" y="3163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Microsoft.com + Microsoft Learn MCP के साथ एक आधारित, बहुभाषी Agent बनाएँ।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52544" y="2011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2212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🗂️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45152" y="2267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45152" y="2615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व्यावसायिक संदर्भ लाएँ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45152" y="3163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Dataverse MCP, पुन: प्रयोज्य Skills, Memory, और एक CoWork ग्राहक-360 वर्कफ़्लो।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65008" y="2011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61904" y="2212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57616" y="2267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57616" y="2615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साक्ष्य-आधारित RFP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57616" y="3163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Work IQ + Microsoft IQ पूरे Office में स्रोत-सहित RFP/RFI उत्तर तैयार करते हैं।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297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36976" y="4498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32688" y="4553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2688" y="4901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विशेषज्ञ Agent जोड़ें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32688" y="5449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ServiceNow ज्ञान + टिकट, कनेक्टेड Agent, Teams &amp; M365 Copilot।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352544" y="4297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4498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📨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645152" y="4553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45152" y="4901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मल्टी-Agent ईमेल Workflow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45152" y="5449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आने वाले ईमेल को वर्गीकृत करें → सही Agent पर भेजें → वैयक्तिकृत उत्तर।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65008" y="4297680"/>
            <a:ext cx="3529584" cy="2084832"/>
          </a:xfrm>
          <a:prstGeom prst="roundRect">
            <a:avLst>
              <a:gd name="adj" fmla="val 5263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61904" y="4498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🎙️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357616" y="455371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57616" y="4901184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रीयल-टाइम आवाज़ Agent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357616" y="5449824"/>
            <a:ext cx="29809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क्लासिक Agent + रीयल-टाइम आवाज़, बहुभाषी, Test विंडो में लाइव परीक्षण।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365DEMO\__Projects\Agent JumpStart 2\promo\img\agent-platform-blueprint-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149" y="155448"/>
            <a:ext cx="11639398" cy="65471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अद्वितीय सुविधा 01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5760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डिज़ाइन से ही बहुभाषी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5440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1800" dirty="0">
                <a:solidFill>
                  <a:srgbClr val="E4E2F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एक क्लिक पूरे लैब अनुभव को — वही पृष्ठ, निर्देश, साइडबार, और UI — English, 简体中文, 廣東話 (香港), 繁體中文 (台灣), 日本語, 한국어, ไทย, हिन्दी के बीच बदल देता है।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76656" y="4187952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6" name="Text 4"/>
          <p:cNvSpPr/>
          <p:nvPr/>
        </p:nvSpPr>
        <p:spPr>
          <a:xfrm>
            <a:off x="1042416" y="4114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उत्पाद नाम, प्रॉम्प्ट &amp; टूल नाम जानबूझकर अंग्रेज़ी में रहते हैं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" y="4846320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8" name="Text 6"/>
          <p:cNvSpPr/>
          <p:nvPr/>
        </p:nvSpPr>
        <p:spPr>
          <a:xfrm>
            <a:off x="1042416" y="47731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कॉपी-तैयार प्रॉम्प्ट कभी “अनुवाद में खो” नहीं जाते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76656" y="5504688"/>
            <a:ext cx="182880" cy="182880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10" name="Text 8"/>
          <p:cNvSpPr/>
          <p:nvPr/>
        </p:nvSpPr>
        <p:spPr>
          <a:xfrm>
            <a:off x="1042416" y="543153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7D5E6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स्थानीयकृत स्क्रीनशॉट न होने पर स्क्रीनशॉट स्वतः अंग्रेज़ी में बदल जाते हैं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EN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87452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7452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简体中文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10896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廣東話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34340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繁體中文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57784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日本語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1228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한국어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04672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ไทย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81160" y="5989320"/>
            <a:ext cx="1051560" cy="658368"/>
          </a:xfrm>
          <a:prstGeom prst="roundRect">
            <a:avLst>
              <a:gd name="adj" fmla="val 13889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81160" y="5989320"/>
            <a:ext cx="1051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ED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हिन्दी</a:t>
            </a:r>
            <a:endParaRPr lang="en-US" sz="1800" dirty="0"/>
          </a:p>
        </p:txBody>
      </p:sp>
      <p:pic>
        <p:nvPicPr>
          <p:cNvPr id="27" name="Image 0" descr="C:\D365DEMO\__Projects\Agent JumpStart 2\promo\img\lab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783080"/>
            <a:ext cx="3246120" cy="2276856"/>
          </a:xfrm>
          <a:prstGeom prst="ellipse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6355080" y="1783080"/>
            <a:ext cx="3246120" cy="2276856"/>
          </a:xfrm>
          <a:prstGeom prst="roundRect">
            <a:avLst>
              <a:gd name="adj" fmla="val 2410"/>
            </a:avLst>
          </a:prstGeom>
          <a:ln w="15875">
            <a:solidFill>
              <a:srgbClr val="3B3460"/>
            </a:solidFill>
            <a:prstDash val="solid"/>
          </a:ln>
        </p:spPr>
      </p:sp>
      <p:pic>
        <p:nvPicPr>
          <p:cNvPr id="29" name="Image 1" descr="C:\D365DEMO\__Projects\Agent JumpStart 2\promo\img\lab-z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3703320"/>
            <a:ext cx="3246120" cy="2276856"/>
          </a:xfrm>
          <a:prstGeom prst="ellipse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8458200" y="3703320"/>
            <a:ext cx="3246120" cy="2276856"/>
          </a:xfrm>
          <a:prstGeom prst="roundRect">
            <a:avLst>
              <a:gd name="adj" fmla="val 2410"/>
            </a:avLst>
          </a:prstGeom>
          <a:ln w="15875">
            <a:solidFill>
              <a:srgbClr val="3B346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अद्वितीय सुविधा 02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6400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करके-सीखने वाला UX जो वाकई आनंददायक है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◆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1993392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Markdown-समृद्ध चरण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3774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शीर्षक, तालिकाएँ, कॉलआउट &amp; हाइलाइट सुंदर ढंग से प्रस्तुत होते हैं।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907792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07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◆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2889504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कॉपी-तैयार प्रॉम्प्ट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27355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हर निर्देश एक क्लिक में क्लिपबोर्ड पर।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03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◆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3785616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प्रगति ट्रैकिंग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16966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सभी 29 चरणों में प्रति-चरण पूर्णता, स्थानीय रूप से सहेजी गई।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700016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700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◆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4681728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पूर्ण होने पर आतिशबाज़ी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506577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हर पूरा हुआ चरण एक उत्सवी आतिशबाज़ी से पुरस्कृत होता है।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59612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5961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◆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71600" y="5577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Glass UI, हल्का &amp; गहरा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596188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आधुनिक फ्रॉस्टेड-ग्लास डिज़ाइन, हर जगह थीम-अनुरूप।</a:t>
            </a:r>
            <a:endParaRPr lang="en-US" sz="1400" dirty="0"/>
          </a:p>
        </p:txBody>
      </p:sp>
      <p:pic>
        <p:nvPicPr>
          <p:cNvPr id="24" name="Image 0" descr="C:\D365DEMO\__Projects\Agent JumpStart 2\promo\img\lab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874520"/>
            <a:ext cx="4663440" cy="3346704"/>
          </a:xfrm>
          <a:prstGeom prst="ellipse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6903720" y="1874520"/>
            <a:ext cx="4663440" cy="3346704"/>
          </a:xfrm>
          <a:prstGeom prst="roundRect">
            <a:avLst>
              <a:gd name="adj" fmla="val 1639"/>
            </a:avLst>
          </a:prstGeom>
          <a:ln w="15875">
            <a:solidFill>
              <a:srgbClr val="3B346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अद्वितीय सुविधा 03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सेकंडों में एक समर्पित वर्कशॉप को को-ब्रांड करें</a:t>
            </a:r>
            <a:endParaRPr lang="en-US" sz="3000" dirty="0"/>
          </a:p>
        </p:txBody>
      </p:sp>
      <p:pic>
        <p:nvPicPr>
          <p:cNvPr id="4" name="Image 0" descr="C:\D365DEMO\__Projects\Agent JumpStart 2\promo\img\cover-lenov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5120640" cy="3584448"/>
          </a:xfrm>
          <a:prstGeom prst="ellipse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920240"/>
            <a:ext cx="5120640" cy="3584448"/>
          </a:xfrm>
          <a:prstGeom prst="roundRect">
            <a:avLst>
              <a:gd name="adj" fmla="val 1531"/>
            </a:avLst>
          </a:prstGeom>
          <a:ln w="15875">
            <a:solidFill>
              <a:srgbClr val="3B346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26480" y="205740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7" name="Text 4"/>
          <p:cNvSpPr/>
          <p:nvPr/>
        </p:nvSpPr>
        <p:spPr>
          <a:xfrm>
            <a:off x="612648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◇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0" y="2039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Microsoft × ग्राहक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858000" y="24414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ग्राहक का नाम या लोगो सेट करें, और लैब पहुँच सत्यापित करने के लिए प्रतिभागियों के ईमेल पंजीकृत करें — कवर तुरंत को-ब्रांड हो जाता है।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26480" y="301752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11" name="Text 8"/>
          <p:cNvSpPr/>
          <p:nvPr/>
        </p:nvSpPr>
        <p:spPr>
          <a:xfrm>
            <a:off x="6126480" y="3017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◇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858000" y="29992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सहेजें &amp; पुनः उपयोग करें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858000" y="340156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वर्कशॉप इतिहास: पिछले सेटअप सहेजें, पुनः प्राप्त करें, और त्वरित खोजें।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126480" y="397764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◇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6858000" y="3959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URL या अपलोड द्वारा लोगो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858000" y="43616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स्व-निहित — किसी बाहरी छवि होस्टिंग की आवश्यकता नहीं।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126480" y="4937760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19" name="Text 16"/>
          <p:cNvSpPr/>
          <p:nvPr/>
        </p:nvSpPr>
        <p:spPr>
          <a:xfrm>
            <a:off x="6126480" y="4937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◇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6858000" y="49194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पासवर्ड-संरक्षित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858000" y="53218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केवल सूत्रधार ही ब्रांडिंग बदल सकते हैं — संपादन मोड जैसा ही गेट।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303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अद्वितीय सुविधा 04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एक बार प्रकाशित करें — सब देखते हैं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स्थानीय रूप से कॉन्फ़िगर करें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मेकर व्यू में ब्रांडिंग सेट करें &amp; लैब सामग्री संपादित करें।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118104" y="32461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493008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67328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2" name="Text 10"/>
          <p:cNvSpPr/>
          <p:nvPr/>
        </p:nvSpPr>
        <p:spPr>
          <a:xfrm>
            <a:off x="3767328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67328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लागू करें &amp; कमिट करें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767328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ब्रांडिंग &amp; सामग्री branding.json + labs.json के रूप में भेजी जाती है।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71032" y="32461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345936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0256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6620256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20256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स्वतः-डिप्लॉय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620256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हर पुश पर GitHub Actions बनाकर GitHub Pages पर प्रकाशित करता है।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823960" y="324612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198864" y="2148840"/>
            <a:ext cx="2514600" cy="2880360"/>
          </a:xfrm>
          <a:prstGeom prst="roundRect">
            <a:avLst>
              <a:gd name="adj" fmla="val 4364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73184" y="2441448"/>
            <a:ext cx="566928" cy="566928"/>
          </a:xfrm>
          <a:prstGeom prst="roundRect">
            <a:avLst>
              <a:gd name="adj" fmla="val 17742"/>
            </a:avLst>
          </a:prstGeom>
          <a:solidFill>
            <a:srgbClr val="F472B6"/>
          </a:solidFill>
          <a:ln/>
        </p:spPr>
      </p:sp>
      <p:sp>
        <p:nvSpPr>
          <p:cNvPr id="24" name="Text 22"/>
          <p:cNvSpPr/>
          <p:nvPr/>
        </p:nvSpPr>
        <p:spPr>
          <a:xfrm>
            <a:off x="9473184" y="2441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473184" y="3209544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सब देखते हैं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473184" y="3776472"/>
            <a:ext cx="20391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7000"/>
              </a:lnSpc>
              <a:buNone/>
            </a:pPr>
            <a:r>
              <a:rPr lang="en-US" sz="140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प्रतिभागी लाइव URL खोलते हैं — वही सामग्री, वही ब्रांड।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5440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कोई प्रति-उपयोगकर्ता सेटअप नहीं। प्रकाशित फ़ाइलें हर आगंतुक के लिए एकमात्र विश्वसनीय स्रोत हैं।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81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365DEMO\__Projects\Agent JumpStart 2\promo\img\jumpstart-hind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3813048" cy="572414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85800" y="566928"/>
            <a:ext cx="3813048" cy="5724144"/>
          </a:xfrm>
          <a:prstGeom prst="roundRect">
            <a:avLst>
              <a:gd name="adj" fmla="val 1439"/>
            </a:avLst>
          </a:prstGeom>
          <a:ln w="15875">
            <a:solidFill>
              <a:srgbClr val="3B346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029200" y="548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A78B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⚡ JumpStart V2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029200" y="96012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लैब से प्रभाव तक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5029200" y="1965960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852160" y="194767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फ़ास्ट स्टार्ट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852160" y="2331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एक लिंक खोलें और शुरू करें — न इंस्टॉल, न सेटअप।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029200" y="2862072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0" y="2862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🙌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852160" y="284378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सेल्फ-सर्व और अपनी गति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5852160" y="3227832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प्रतिभागी खुद आगे बढ़ते हैं, आप सहायक बनते हैं।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029200" y="3758184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0" y="37581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5852160" y="373989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कॉपी करें और बनाएँ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852160" y="4123944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कॉपी-तैयार प्रॉम्प्ट हर चरण को असली, काम करते Agent में बदलते हैं।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029200" y="4654296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0" y="46542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5852160" y="463600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बहुभाषी तैयार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5852160" y="502005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आठ भाषाएँ, एक साझा लिंक।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5029200" y="5550408"/>
            <a:ext cx="640080" cy="640080"/>
          </a:xfrm>
          <a:prstGeom prst="roundRect">
            <a:avLst>
              <a:gd name="adj" fmla="val 18571"/>
            </a:avLst>
          </a:prstGeom>
          <a:solidFill>
            <a:srgbClr val="A78BFA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0" y="5550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5852160" y="553212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लैब से प्रभाव तक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5852160" y="591616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असली व्यावसायिक मूल्य देने वाले Agent तेज़ी से पहुँचाएँ।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0F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743200"/>
            <a:ext cx="6858000" cy="6858000"/>
          </a:xfrm>
          <a:prstGeom prst="ellipse">
            <a:avLst/>
          </a:prstGeom>
          <a:solidFill>
            <a:srgbClr val="7C3AED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4023360"/>
            <a:ext cx="6400800" cy="6400800"/>
          </a:xfrm>
          <a:prstGeom prst="ellipse">
            <a:avLst/>
          </a:prstGeom>
          <a:solidFill>
            <a:srgbClr val="EC4899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6692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● </a:t>
            </a:r>
            <a:pPr algn="l" indent="0" marL="0">
              <a:buNone/>
            </a:pPr>
            <a:r>
              <a:rPr lang="en-US" sz="1200" b="1" dirty="0">
                <a:solidFill>
                  <a:srgbClr val="E9E6FF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जब आप तैयार हों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3504" y="1207008"/>
            <a:ext cx="7040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36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JumpStart v2 को अपनी अगली ग्राहक वर्कशॉप में लाएँ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70408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CDE0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आंतरिक सक्षमता हो या बाहरी ग्राहक कार्यक्रम — इसे को-ब्रांड करें, लिंक साझा करें, और प्रतिभागियों को असली Agent व्यावहारिक रूप से बनाने दें।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pic>
        <p:nvPicPr>
          <p:cNvPr id="8" name="Image 0" descr="C:\D365DEMO\__Projects\Agent JumpStart 2\promo\img\micha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785616"/>
            <a:ext cx="658368" cy="658368"/>
          </a:xfrm>
          <a:prstGeom prst="ellipse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27632" y="380390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CECF5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Michael Jiang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27632" y="4169664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D3EE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zhijian@microsoft.com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4828032"/>
            <a:ext cx="7040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Microsoft MCAPS Core — Agent Asia Team</a:t>
            </a:r>
            <a:endParaRPr lang="en-US" sz="1250" dirty="0"/>
          </a:p>
        </p:txBody>
      </p:sp>
      <p:pic>
        <p:nvPicPr>
          <p:cNvPr id="12" name="Image 1" descr="C:\D365DEMO\__Projects\Agent JumpStart 2\promo\img\ai-agent-jumpstart-hero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234440"/>
            <a:ext cx="3611880" cy="36118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703820" y="5029200"/>
            <a:ext cx="4206240" cy="932688"/>
          </a:xfrm>
          <a:prstGeom prst="roundRect">
            <a:avLst>
              <a:gd name="adj" fmla="val 11765"/>
            </a:avLst>
          </a:prstGeom>
          <a:solidFill>
            <a:srgbClr val="221C3F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886700" y="51755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78B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लाइव वर्कशॉप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7886700" y="5449824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FED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aka.ms/ai-agent-jumpstart-v2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40080" y="546811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B4B1CC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JumpStart v-Team टीम के योगदान के लिए हार्दिक धन्यवाद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6236208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0080" y="62362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Nalin Shukla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2359152" y="6236208"/>
            <a:ext cx="146304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359152" y="62362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Scott Berry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986784" y="6236208"/>
            <a:ext cx="118872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986784" y="623620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Steve Ng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5340096" y="6236208"/>
            <a:ext cx="164592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340096" y="623620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Jalilah Halim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7150608" y="6236208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2B2450"/>
          </a:solidFill>
          <a:ln w="12700">
            <a:solidFill>
              <a:srgbClr val="3B346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150608" y="623620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EDFA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Anand Ponnusamy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JumpStart Workshop v2 - Highlights</dc:title>
  <dc:subject>PptxGenJS Presentation</dc:subject>
  <dc:creator>Microsoft MCAPS Core - Agent Asia Team</dc:creator>
  <cp:lastModifiedBy>Microsoft MCAPS Core - Agent Asia Team</cp:lastModifiedBy>
  <cp:revision>1</cp:revision>
  <dcterms:created xsi:type="dcterms:W3CDTF">2026-08-12T09:51:44Z</dcterms:created>
  <dcterms:modified xsi:type="dcterms:W3CDTF">2026-08-12T09:51:44Z</dcterms:modified>
</cp:coreProperties>
</file>