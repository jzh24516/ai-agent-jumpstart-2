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743200"/>
            <a:ext cx="6858000" cy="6858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023360"/>
            <a:ext cx="6400800" cy="6400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E9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Copilot Studio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3716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Agent JumpStart</a:t>
            </a:r>
            <a:endParaRPr lang="en-US" sz="4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Workshop v2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FCD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hands-on, self-guided, multilingual lab experience for building the full breadth of custom agents in Microsoft Copilot Studio.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MCAPS Core — Agent Asia Team   ·   July 16,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1548994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92040"/>
            <a:ext cx="15489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guided labs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53666" y="4892040"/>
            <a:ext cx="1100938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3666" y="4892040"/>
            <a:ext cx="110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29 steps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9195" y="4892040"/>
            <a:ext cx="1369771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195" y="4892040"/>
            <a:ext cx="13697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languages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53558" y="4892040"/>
            <a:ext cx="1817827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53558" y="4892040"/>
            <a:ext cx="18178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shareable link</a:t>
            </a:r>
            <a:endParaRPr lang="en-US" sz="1200" dirty="0"/>
          </a:p>
        </p:txBody>
      </p:sp>
      <p:pic>
        <p:nvPicPr>
          <p:cNvPr id="16" name="Image 0" descr="C:\D365DEMO\__Projects\Agent JumpStart 2\promo\img\cover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3040"/>
            <a:ext cx="4617720" cy="3255264"/>
          </a:xfrm>
          <a:prstGeom prst="ellipse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315200" y="1463040"/>
            <a:ext cx="4617720" cy="3255264"/>
          </a:xfrm>
          <a:prstGeom prst="roundRect">
            <a:avLst>
              <a:gd name="adj" fmla="val 1685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🎬 THE ONE-LINER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workshop that runs itself — </a:t>
            </a:r>
            <a:pPr algn="l" indent="0" marL="0">
              <a:buNone/>
            </a:pPr>
            <a:r>
              <a:rPr lang="en-US" sz="3300" b="1" dirty="0">
                <a:solidFill>
                  <a:srgbClr val="F472B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learners just press play</a:t>
            </a:r>
            <a:pPr algn="l" indent="0" marL="0">
              <a:buNone/>
            </a:pPr>
            <a:r>
              <a:rPr lang="en-US" sz="33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▶️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E4E2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JumpStart v2 turns a slide-and-demo session into a living, do-it-yourself lab app. Attendees open one link, pick their language, and build real agents step by step — while you facilitate instead of babysit.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76656" y="4242816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41605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Self-paced, browser-based, zero install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6656" y="4901184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48188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step is copy-ready and screenshot-guided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6656" y="5559552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4772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for internal enablement and customer workshops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0" y="19659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7315200" y="34838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labs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802368" y="19659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02368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👣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02368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29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9802368" y="34838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steps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0" y="429768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7315200" y="5815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802368" y="429768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802368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∞</a:t>
            </a:r>
            <a:endParaRPr lang="en-US" sz="5000" dirty="0"/>
          </a:p>
        </p:txBody>
      </p:sp>
      <p:sp>
        <p:nvSpPr>
          <p:cNvPr id="26" name="Text 24"/>
          <p:cNvSpPr/>
          <p:nvPr/>
        </p:nvSpPr>
        <p:spPr>
          <a:xfrm>
            <a:off x="9802368" y="5815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reuse, any customer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🧭 THE LEARNING PATH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Six labs, from first agent to </a:t>
            </a:r>
            <a:pPr algn="l" indent="0" marL="0">
              <a:buNone/>
            </a:pPr>
            <a:r>
              <a:rPr lang="en-US" sz="33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real-time voice</a:t>
            </a:r>
            <a:pPr algn="l" indent="0" marL="0">
              <a:buNone/>
            </a:pPr>
            <a:r>
              <a:rPr lang="en-US" sz="33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🎙️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36976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Meet the Agent Maker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grounded, multilingual agent with Microsoft.com + Microsoft Learn MCP.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52544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45152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Bring in business context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45152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Dataverse MCP, reusable Skills, Memory, and a CoWork customer-360 workflow.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65008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61904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57616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7616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Evidence-based RFP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57616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IQ + Microsoft IQ generate sourced RFP/RFI responses across Office.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Connect specialist agents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32688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ServiceNow knowledge + tickets, connected agents, Teams &amp; M365 Copilot.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352544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45152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45152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Multi-agent email Workflow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645152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 inbound email, route to the right agent, personalized reply.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8065008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61904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357616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57616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Real-time voice agent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8357616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 agent + real-time voice, multilingual, tested live in the Test window.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365DEMO\__Projects\Agent JumpStart 2\promo\img\agent-platform-blueprint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49" y="155448"/>
            <a:ext cx="11639398" cy="6547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UNIQUE FEATURE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Multilingual </a:t>
            </a:r>
            <a:pPr algn="l" indent="0" marL="0">
              <a:buNone/>
            </a:pPr>
            <a:r>
              <a:rPr lang="en-US" sz="33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by design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E4E2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 switches the entire experience — cover, labs, instructions, and UI — between English, 中文, 日本語, 한국어, ไทย, and हिन्दी.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76656" y="4050792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names, prompts &amp; tool names stay in English on purpose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6656" y="4709160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46360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Copy-ready prompts never get "lost in translation"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6656" y="5367528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2943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5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fall back to English automatically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7452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中文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0896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日本語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4340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한국어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57784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ไทย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1228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हिन्दी</a:t>
            </a:r>
            <a:endParaRPr lang="en-US" sz="1800" dirty="0"/>
          </a:p>
        </p:txBody>
      </p:sp>
      <p:pic>
        <p:nvPicPr>
          <p:cNvPr id="23" name="Image 0" descr="C:\D365DEMO\__Projects\Agent JumpStart 2\promo\img\lab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83080"/>
            <a:ext cx="3246120" cy="2276856"/>
          </a:xfrm>
          <a:prstGeom prst="ellipse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355080" y="1783080"/>
            <a:ext cx="3246120" cy="2276856"/>
          </a:xfrm>
          <a:prstGeom prst="roundRect">
            <a:avLst>
              <a:gd name="adj" fmla="val 2410"/>
            </a:avLst>
          </a:prstGeom>
          <a:ln w="15875">
            <a:solidFill>
              <a:srgbClr val="3B3460"/>
            </a:solidFill>
            <a:prstDash val="solid"/>
          </a:ln>
        </p:spPr>
      </p:sp>
      <p:pic>
        <p:nvPicPr>
          <p:cNvPr id="25" name="Image 1" descr="C:\D365DEMO\__Projects\Agent JumpStart 2\promo\img\lab-z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703320"/>
            <a:ext cx="3246120" cy="2276856"/>
          </a:xfrm>
          <a:prstGeom prst="ellipse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8458200" y="3703320"/>
            <a:ext cx="3246120" cy="2276856"/>
          </a:xfrm>
          <a:prstGeom prst="roundRect">
            <a:avLst>
              <a:gd name="adj" fmla="val 2410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UNIQUE FEATURE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learn-by-doing UX that's </a:t>
            </a:r>
            <a:pPr algn="l" indent="0" marL="0">
              <a:buNone/>
            </a:pPr>
            <a:r>
              <a:rPr lang="en-US" sz="3300" b="1" dirty="0">
                <a:solidFill>
                  <a:srgbClr val="F472B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actually joyful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99339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Markdown-rich steps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371600" y="23591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Headings, tables, callouts &amp; highlights render beautifully.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07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88950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Copy-ready prompts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371600" y="32552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instruction is one click to clipboard.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78561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Progress tracking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371600" y="41513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Per-step completion across all 29 steps, saved locally.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00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68172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Fireworks on completion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1371600" y="50474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celebratory burst rewards every finished step.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96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55778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Glass UI, light &amp; dark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1371600" y="5943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frosted-glass design, theme-aware everywhere.</a:t>
            </a:r>
            <a:endParaRPr lang="en-US" sz="1450" dirty="0"/>
          </a:p>
        </p:txBody>
      </p:sp>
      <p:pic>
        <p:nvPicPr>
          <p:cNvPr id="24" name="Image 0" descr="C:\D365DEMO\__Projects\Agent JumpStart 2\promo\img\lab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874520"/>
            <a:ext cx="4663440" cy="3346704"/>
          </a:xfrm>
          <a:prstGeom prst="ellipse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903720" y="1874520"/>
            <a:ext cx="4663440" cy="3346704"/>
          </a:xfrm>
          <a:prstGeom prst="roundRect">
            <a:avLst>
              <a:gd name="adj" fmla="val 1639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UNIQUE FEATURE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Co-brand a </a:t>
            </a:r>
            <a:pPr algn="l" indent="0" marL="0">
              <a:buNone/>
            </a:pPr>
            <a:r>
              <a:rPr lang="en-US" sz="33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dedicated workshop</a:t>
            </a:r>
            <a:pPr algn="l" indent="0" marL="0">
              <a:buNone/>
            </a:pPr>
            <a:r>
              <a:rPr lang="en-US" sz="33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 seconds</a:t>
            </a:r>
            <a:endParaRPr lang="en-US" sz="3300" dirty="0"/>
          </a:p>
        </p:txBody>
      </p:sp>
      <p:pic>
        <p:nvPicPr>
          <p:cNvPr id="4" name="Image 0" descr="C:\D365DEMO\__Projects\Agent JumpStart 2\promo\img\cover-leno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5120640" cy="3584448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5120640" cy="3584448"/>
          </a:xfrm>
          <a:prstGeom prst="roundRect">
            <a:avLst>
              <a:gd name="adj" fmla="val 1531"/>
            </a:avLst>
          </a:prstGeom>
          <a:ln w="15875">
            <a:solidFill>
              <a:srgbClr val="3B34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0" y="205740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◇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0" y="20391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× Customer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858000" y="2423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a customer name or logo — the cover instantly co-brands.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26480" y="30175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◇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0" y="29992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Save &amp; reuse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858000" y="33832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Workshop history: save, retrieve, and quick-search past setups.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126480" y="397764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◇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858000" y="39593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Logos by URL or upload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6858000" y="4343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Self-contained — no external image hosting needed.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126480" y="493776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◇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858000" y="49194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Password-gated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6858000" y="5303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facilitators can change branding — same gate as edit mode.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UNIQUE FEATURE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Publish once — </a:t>
            </a:r>
            <a:pPr algn="l" indent="0" marL="0">
              <a:buNone/>
            </a:pPr>
            <a:r>
              <a:rPr lang="en-US" sz="33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everyone sees it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Configure locally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branding &amp; edit lab content in the maker view.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118104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93008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67328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67328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 &amp; commit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67328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Branding &amp; content ship as branding.json + labs.json.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71032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45936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0256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0256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0256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Auto-deploy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0256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builds &amp; publishes to GitHub Pages on push.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823960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98864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73184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9473184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73184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Everyone sees it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73184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Attendees open the live URL — same content, same brand.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per-user setup. The published files are the single source of truth for every visitor.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 YOUR ATTENDEES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Running it is </a:t>
            </a:r>
            <a:pPr algn="l" indent="0" marL="0">
              <a:buNone/>
            </a:pPr>
            <a:r>
              <a:rPr lang="en-US" sz="33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steps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383280" cy="2697480"/>
          </a:xfrm>
          <a:prstGeom prst="roundRect">
            <a:avLst>
              <a:gd name="adj" fmla="val 4068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505456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5054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2688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the link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38587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URL, any modern browser. No install, no sign-in to start.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07408" y="2194560"/>
            <a:ext cx="3383280" cy="2697480"/>
          </a:xfrm>
          <a:prstGeom prst="roundRect">
            <a:avLst>
              <a:gd name="adj" fmla="val 4068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2505456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4700016" y="25054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0016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Pick a language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0016" y="38587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to EN / 中文 / 日本語 / 한국어 / ไทย / हिन्दी on the cover.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74736" y="2194560"/>
            <a:ext cx="3383280" cy="2697480"/>
          </a:xfrm>
          <a:prstGeom prst="roundRect">
            <a:avLst>
              <a:gd name="adj" fmla="val 4068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7344" y="2505456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8467344" y="25054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67344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Enter &amp; build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67344" y="38587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lab by lab, copy prompts, track progress, celebrate.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11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257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WORKSHOP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5257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FED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https://jzh24516.github.io/ai-agent-jumpstart-2/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743200"/>
            <a:ext cx="6858000" cy="6858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023360"/>
            <a:ext cx="6400800" cy="6400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E9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when you 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55448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Bring JumpStart v2 to your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 customer workshop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CD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enablement or external customer event — co-brand it, share the link, and let attendees build real agents hands-on.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3657600" cy="1051560"/>
          </a:xfrm>
          <a:prstGeom prst="roundRect">
            <a:avLst>
              <a:gd name="adj" fmla="val 10435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45902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Michael Jiang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49926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zhijian@microsoft.com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MCAPS Core — Agent Asia Team</a:t>
            </a:r>
            <a:endParaRPr lang="en-US" sz="1250" dirty="0"/>
          </a:p>
        </p:txBody>
      </p:sp>
      <p:pic>
        <p:nvPicPr>
          <p:cNvPr id="11" name="Image 0" descr="C:\D365DEMO\__Projects\Agent JumpStart 2\promo\img\micha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783080"/>
            <a:ext cx="2834640" cy="2834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75320" y="4709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Michael Jiang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275320" y="51023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B1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MCAPS Core — Agent Asia Team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JumpStart Workshop v2 - Highlights</dc:title>
  <dc:subject>PptxGenJS Presentation</dc:subject>
  <dc:creator>Microsoft MCAPS Core - Agent Asia Team</dc:creator>
  <cp:lastModifiedBy>Microsoft MCAPS Core - Agent Asia Team</cp:lastModifiedBy>
  <cp:revision>1</cp:revision>
  <dcterms:created xsi:type="dcterms:W3CDTF">2026-07-17T11:19:16Z</dcterms:created>
  <dcterms:modified xsi:type="dcterms:W3CDTF">2026-07-17T11:19:16Z</dcterms:modified>
</cp:coreProperties>
</file>