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-2743200"/>
            <a:ext cx="6858000" cy="6858000"/>
          </a:xfrm>
          <a:prstGeom prst="ellipse">
            <a:avLst/>
          </a:prstGeom>
          <a:solidFill>
            <a:srgbClr val="7C3AED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4023360"/>
            <a:ext cx="6400800" cy="6400800"/>
          </a:xfrm>
          <a:prstGeom prst="ellipse">
            <a:avLst/>
          </a:prstGeom>
          <a:solidFill>
            <a:srgbClr val="EC4899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40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472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E9E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Copilot Studio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03504" y="1371600"/>
            <a:ext cx="6583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Agent JumpStart</a:t>
            </a:r>
            <a:endParaRPr lang="en-US" sz="46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A78B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Workshop v2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40080" y="3246120"/>
            <a:ext cx="60350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CFCD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一个动手、自主、多语言的实验体验，全面构建 Microsoft Copilot Studio 中的各类自定义 Agent。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434840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B4B1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MCAPS Core — Agent Asia Team   ·   July 16, 2026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4937760"/>
            <a:ext cx="1394460" cy="457200"/>
          </a:xfrm>
          <a:prstGeom prst="roundRect">
            <a:avLst>
              <a:gd name="adj" fmla="val 20000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4937760"/>
            <a:ext cx="13944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D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个引导实验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199132" y="4937760"/>
            <a:ext cx="1252728" cy="457200"/>
          </a:xfrm>
          <a:prstGeom prst="roundRect">
            <a:avLst>
              <a:gd name="adj" fmla="val 20000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99132" y="4937760"/>
            <a:ext cx="1252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D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 个步骤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16452" y="4937760"/>
            <a:ext cx="1110996" cy="457200"/>
          </a:xfrm>
          <a:prstGeom prst="roundRect">
            <a:avLst>
              <a:gd name="adj" fmla="val 20000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16452" y="4937760"/>
            <a:ext cx="11109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D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种语言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92040" y="4937760"/>
            <a:ext cx="1536192" cy="457200"/>
          </a:xfrm>
          <a:prstGeom prst="roundRect">
            <a:avLst>
              <a:gd name="adj" fmla="val 20000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92040" y="4937760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D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个可分享链接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5852160"/>
            <a:ext cx="5943600" cy="603504"/>
          </a:xfrm>
          <a:prstGeom prst="roundRect">
            <a:avLst>
              <a:gd name="adj" fmla="val 18182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852160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A78B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在线研讨会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880360" y="585216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FED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aka.ms/ai-agent-jumpstart-v2</a:t>
            </a:r>
            <a:endParaRPr lang="en-US" sz="1600" dirty="0"/>
          </a:p>
        </p:txBody>
      </p:sp>
      <p:pic>
        <p:nvPicPr>
          <p:cNvPr id="19" name="Image 0" descr="C:\D365DEMO\__Projects\Agent JumpStart 2\promo\img\cover-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463040"/>
            <a:ext cx="4617720" cy="3255264"/>
          </a:xfrm>
          <a:prstGeom prst="ellipse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7315200" y="1463040"/>
            <a:ext cx="4617720" cy="3255264"/>
          </a:xfrm>
          <a:prstGeom prst="roundRect">
            <a:avLst>
              <a:gd name="adj" fmla="val 1685"/>
            </a:avLst>
          </a:prstGeom>
          <a:ln w="15875">
            <a:solidFill>
              <a:srgbClr val="3B346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81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🎬 一句话概括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6675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自动运行的研讨会 — 学员只需按下播放 ▶️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6126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dirty="0">
                <a:solidFill>
                  <a:srgbClr val="E4E2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JumpStart v2 把“幻灯片 + 演示”变成一个可动手操作的实时实验应用。参与者打开一个链接、选择语言，逐步构建真实的 Agent — 你只需引导，而不必手把手照看。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76656" y="4379976"/>
            <a:ext cx="182880" cy="18288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6" name="Text 4"/>
          <p:cNvSpPr/>
          <p:nvPr/>
        </p:nvSpPr>
        <p:spPr>
          <a:xfrm>
            <a:off x="1042416" y="4297680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🖥️ 自主进度、基于浏览器、零安装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76656" y="5038344"/>
            <a:ext cx="182880" cy="18288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8" name="Text 6"/>
          <p:cNvSpPr/>
          <p:nvPr/>
        </p:nvSpPr>
        <p:spPr>
          <a:xfrm>
            <a:off x="1042416" y="4956048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📋 每一步都可一键复制，并配有截图引导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76656" y="5696712"/>
            <a:ext cx="182880" cy="18288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0" name="Text 8"/>
          <p:cNvSpPr/>
          <p:nvPr/>
        </p:nvSpPr>
        <p:spPr>
          <a:xfrm>
            <a:off x="1042416" y="5614416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🤝 既适用于内部赋能，也适用于客户研讨会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0" y="1965960"/>
            <a:ext cx="2286000" cy="2103120"/>
          </a:xfrm>
          <a:prstGeom prst="roundRect">
            <a:avLst>
              <a:gd name="adj" fmla="val 5217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0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🧪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315200" y="25146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A78B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5000" dirty="0"/>
          </a:p>
        </p:txBody>
      </p:sp>
      <p:sp>
        <p:nvSpPr>
          <p:cNvPr id="14" name="Text 12"/>
          <p:cNvSpPr/>
          <p:nvPr/>
        </p:nvSpPr>
        <p:spPr>
          <a:xfrm>
            <a:off x="7315200" y="348386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4B1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动手实验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802368" y="1965960"/>
            <a:ext cx="2286000" cy="2103120"/>
          </a:xfrm>
          <a:prstGeom prst="roundRect">
            <a:avLst>
              <a:gd name="adj" fmla="val 5217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02368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👣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9802368" y="25146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A78B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5000" dirty="0"/>
          </a:p>
        </p:txBody>
      </p:sp>
      <p:sp>
        <p:nvSpPr>
          <p:cNvPr id="18" name="Text 16"/>
          <p:cNvSpPr/>
          <p:nvPr/>
        </p:nvSpPr>
        <p:spPr>
          <a:xfrm>
            <a:off x="9802368" y="348386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4B1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引导步骤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315200" y="4297680"/>
            <a:ext cx="2286000" cy="2103120"/>
          </a:xfrm>
          <a:prstGeom prst="roundRect">
            <a:avLst>
              <a:gd name="adj" fmla="val 5217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0" y="4480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🌍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315200" y="48463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A78B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5000" dirty="0"/>
          </a:p>
        </p:txBody>
      </p:sp>
      <p:sp>
        <p:nvSpPr>
          <p:cNvPr id="22" name="Text 20"/>
          <p:cNvSpPr/>
          <p:nvPr/>
        </p:nvSpPr>
        <p:spPr>
          <a:xfrm>
            <a:off x="7315200" y="581558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4B1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种语言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9802368" y="4297680"/>
            <a:ext cx="2286000" cy="2103120"/>
          </a:xfrm>
          <a:prstGeom prst="roundRect">
            <a:avLst>
              <a:gd name="adj" fmla="val 5217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802368" y="4480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🔁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9802368" y="48463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A78B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∞</a:t>
            </a:r>
            <a:endParaRPr lang="en-US" sz="5000" dirty="0"/>
          </a:p>
        </p:txBody>
      </p:sp>
      <p:sp>
        <p:nvSpPr>
          <p:cNvPr id="26" name="Text 24"/>
          <p:cNvSpPr/>
          <p:nvPr/>
        </p:nvSpPr>
        <p:spPr>
          <a:xfrm>
            <a:off x="9802368" y="581558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4B1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复用，任意客户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🧭 学习路径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六个实验，从第一个 Agent 到实时语音 🎙️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36976" y="2212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32688" y="2267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32688" y="2615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认识 Agent Maker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32688" y="3163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 Microsoft.com + Microsoft Learn MCP 构建有依据的多语言 Agent。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52544" y="2011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49440" y="2212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🗂️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645152" y="2267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645152" y="2615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引入业务上下文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645152" y="3163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Dataverse MCP、可复用 Skills、Memory，以及 CoWork 客户 360 工作流。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065008" y="2011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661904" y="2212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357616" y="2267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357616" y="2615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基于证据的 RFP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357616" y="3163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Work IQ + Microsoft IQ 在 Office 中生成有出处的 RFP/RFI 回复。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4297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36976" y="4498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🔌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932688" y="4553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32688" y="4901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连接专家 Agent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32688" y="5449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ServiceNow 知识 + 工单、连接的 Agent、Teams 与 M365 Copilot。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352544" y="4297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49440" y="4498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📨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645152" y="4553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645152" y="4901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 Agent 邮件工作流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4645152" y="5449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分类来件邮件 → 路由到合适的 Agent → 个性化回复。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065008" y="4297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661904" y="4498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🎙️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8357616" y="4553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357616" y="4901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实时语音 Agent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8357616" y="5449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经典 Agent + 实时语音，多语言，在测试窗口中实时验证。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D365DEMO\__Projects\Agent JumpStart 2\promo\img\agent-platform-blueprint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6149" y="155448"/>
            <a:ext cx="11639398" cy="654710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81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独特功能 01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5760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与生俱来的多语言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194560"/>
            <a:ext cx="54406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dirty="0">
                <a:solidFill>
                  <a:srgbClr val="E4E2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一键即可在 English、简体中文、廣東話（香港）、繁體中文（台灣）、日本語、한국어、ไทย、हिन्दी 之间切换整个实验体验 —— 同一页面、说明、侧栏与界面。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76656" y="4187952"/>
            <a:ext cx="182880" cy="182880"/>
          </a:xfrm>
          <a:prstGeom prst="ellipse">
            <a:avLst/>
          </a:prstGeom>
          <a:solidFill>
            <a:srgbClr val="F472B6"/>
          </a:solidFill>
          <a:ln/>
        </p:spPr>
      </p:sp>
      <p:sp>
        <p:nvSpPr>
          <p:cNvPr id="6" name="Text 4"/>
          <p:cNvSpPr/>
          <p:nvPr/>
        </p:nvSpPr>
        <p:spPr>
          <a:xfrm>
            <a:off x="1042416" y="411480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产品名、提示词与工具名有意保留英文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76656" y="4846320"/>
            <a:ext cx="182880" cy="182880"/>
          </a:xfrm>
          <a:prstGeom prst="ellipse">
            <a:avLst/>
          </a:prstGeom>
          <a:solidFill>
            <a:srgbClr val="F472B6"/>
          </a:solidFill>
          <a:ln/>
        </p:spPr>
      </p:sp>
      <p:sp>
        <p:nvSpPr>
          <p:cNvPr id="8" name="Text 6"/>
          <p:cNvSpPr/>
          <p:nvPr/>
        </p:nvSpPr>
        <p:spPr>
          <a:xfrm>
            <a:off x="1042416" y="477316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可复制的提示词绝不会“翻译走样”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76656" y="5504688"/>
            <a:ext cx="182880" cy="182880"/>
          </a:xfrm>
          <a:prstGeom prst="ellipse">
            <a:avLst/>
          </a:prstGeom>
          <a:solidFill>
            <a:srgbClr val="F472B6"/>
          </a:solidFill>
          <a:ln/>
        </p:spPr>
      </p:sp>
      <p:sp>
        <p:nvSpPr>
          <p:cNvPr id="10" name="Text 8"/>
          <p:cNvSpPr/>
          <p:nvPr/>
        </p:nvSpPr>
        <p:spPr>
          <a:xfrm>
            <a:off x="1042416" y="5431536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未提供本地化截图时自动回退为英文截图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EN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87452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7452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简体中文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310896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0896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廣東話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34340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4340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繁體中文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57784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57784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日本語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81228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1228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한국어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804672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4672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ไทย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28116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8116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हिन्दी</a:t>
            </a:r>
            <a:endParaRPr lang="en-US" sz="1800" dirty="0"/>
          </a:p>
        </p:txBody>
      </p:sp>
      <p:pic>
        <p:nvPicPr>
          <p:cNvPr id="27" name="Image 0" descr="C:\D365DEMO\__Projects\Agent JumpStart 2\promo\img\lab-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783080"/>
            <a:ext cx="3246120" cy="2276856"/>
          </a:xfrm>
          <a:prstGeom prst="ellipse">
            <a:avLst/>
          </a:prstGeom>
        </p:spPr>
      </p:pic>
      <p:sp>
        <p:nvSpPr>
          <p:cNvPr id="28" name="Shape 25"/>
          <p:cNvSpPr/>
          <p:nvPr/>
        </p:nvSpPr>
        <p:spPr>
          <a:xfrm>
            <a:off x="6355080" y="1783080"/>
            <a:ext cx="3246120" cy="2276856"/>
          </a:xfrm>
          <a:prstGeom prst="roundRect">
            <a:avLst>
              <a:gd name="adj" fmla="val 2410"/>
            </a:avLst>
          </a:prstGeom>
          <a:ln w="15875">
            <a:solidFill>
              <a:srgbClr val="3B3460"/>
            </a:solidFill>
            <a:prstDash val="solid"/>
          </a:ln>
        </p:spPr>
      </p:sp>
      <p:pic>
        <p:nvPicPr>
          <p:cNvPr id="29" name="Image 1" descr="C:\D365DEMO\__Projects\Agent JumpStart 2\promo\img\lab-z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3703320"/>
            <a:ext cx="3246120" cy="2276856"/>
          </a:xfrm>
          <a:prstGeom prst="ellipse">
            <a:avLst/>
          </a:prstGeom>
        </p:spPr>
      </p:pic>
      <p:sp>
        <p:nvSpPr>
          <p:cNvPr id="30" name="Shape 26"/>
          <p:cNvSpPr/>
          <p:nvPr/>
        </p:nvSpPr>
        <p:spPr>
          <a:xfrm>
            <a:off x="8458200" y="3703320"/>
            <a:ext cx="3246120" cy="2276856"/>
          </a:xfrm>
          <a:prstGeom prst="roundRect">
            <a:avLst>
              <a:gd name="adj" fmla="val 2410"/>
            </a:avLst>
          </a:prstGeom>
          <a:ln w="15875">
            <a:solidFill>
              <a:srgbClr val="3B346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独特功能 02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6400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边做边学、真正愉悦的体验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◆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371600" y="199339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丰富的 Markdown 步骤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23774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4B1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标题、表格、提示框与重点都渲染精美。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907792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9077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◆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288950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可复制的提示词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3273552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4B1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每条说明一键复制到剪贴板。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803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◆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371600" y="3785616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进度跟踪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71600" y="4169664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4B1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 29 个步骤逐步完成，本地保存。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700016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7000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◆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371600" y="468172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完成时的烟花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71600" y="5065776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4B1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每完成一步都有庆祝的烟花奖励。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559612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55961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◆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371600" y="55778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玻璃拟态界面，明暗主题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71600" y="5961888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4B1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现代磨砂玻璃设计，处处适配主题。</a:t>
            </a:r>
            <a:endParaRPr lang="en-US" sz="1400" dirty="0"/>
          </a:p>
        </p:txBody>
      </p:sp>
      <p:pic>
        <p:nvPicPr>
          <p:cNvPr id="24" name="Image 0" descr="C:\D365DEMO\__Projects\Agent JumpStart 2\promo\img\lab-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874520"/>
            <a:ext cx="4663440" cy="3346704"/>
          </a:xfrm>
          <a:prstGeom prst="ellipse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6903720" y="1874520"/>
            <a:ext cx="4663440" cy="3346704"/>
          </a:xfrm>
          <a:prstGeom prst="roundRect">
            <a:avLst>
              <a:gd name="adj" fmla="val 1639"/>
            </a:avLst>
          </a:prstGeom>
          <a:ln w="15875">
            <a:solidFill>
              <a:srgbClr val="3B346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81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独特功能 03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几秒钟即可联合品牌化一个专属研讨会</a:t>
            </a:r>
            <a:endParaRPr lang="en-US" sz="3000" dirty="0"/>
          </a:p>
        </p:txBody>
      </p:sp>
      <p:pic>
        <p:nvPicPr>
          <p:cNvPr id="4" name="Image 0" descr="C:\D365DEMO\__Projects\Agent JumpStart 2\promo\img\cover-lenov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20240"/>
            <a:ext cx="5120640" cy="3584448"/>
          </a:xfrm>
          <a:prstGeom prst="ellipse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920240"/>
            <a:ext cx="5120640" cy="3584448"/>
          </a:xfrm>
          <a:prstGeom prst="roundRect">
            <a:avLst>
              <a:gd name="adj" fmla="val 1531"/>
            </a:avLst>
          </a:prstGeom>
          <a:ln w="15875">
            <a:solidFill>
              <a:srgbClr val="3B346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126480" y="205740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7" name="Text 4"/>
          <p:cNvSpPr/>
          <p:nvPr/>
        </p:nvSpPr>
        <p:spPr>
          <a:xfrm>
            <a:off x="612648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◇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858000" y="20391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× 客户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858000" y="244144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设置客户名称或徽标，并登记参与者邮箱以验证实验访问权限 — 封面即刻联合品牌化。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126480" y="301752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11" name="Text 8"/>
          <p:cNvSpPr/>
          <p:nvPr/>
        </p:nvSpPr>
        <p:spPr>
          <a:xfrm>
            <a:off x="6126480" y="3017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◇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6858000" y="29992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保存与复用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858000" y="340156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研讨会历史：保存、检索并快速搜索过往配置。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126480" y="397764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15" name="Text 12"/>
          <p:cNvSpPr/>
          <p:nvPr/>
        </p:nvSpPr>
        <p:spPr>
          <a:xfrm>
            <a:off x="6126480" y="3977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◇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6858000" y="39593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徽标可用 URL 或上传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6858000" y="436168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自包含 — 无需外部图片托管。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126480" y="493776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19" name="Text 16"/>
          <p:cNvSpPr/>
          <p:nvPr/>
        </p:nvSpPr>
        <p:spPr>
          <a:xfrm>
            <a:off x="6126480" y="4937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◇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6858000" y="491947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密码保护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6858000" y="532180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仅主持人可更改品牌设置 — 与编辑模式同一道门槛。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独特功能 04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发布一次 — 人人可见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2514600" cy="2880360"/>
          </a:xfrm>
          <a:prstGeom prst="roundRect">
            <a:avLst>
              <a:gd name="adj" fmla="val 4364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44144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320954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本地配置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3776472"/>
            <a:ext cx="2039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在创作者视图中设置品牌并编辑实验内容。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118104" y="324612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78B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3493008" y="2148840"/>
            <a:ext cx="2514600" cy="2880360"/>
          </a:xfrm>
          <a:prstGeom prst="roundRect">
            <a:avLst>
              <a:gd name="adj" fmla="val 4364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67328" y="244144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12" name="Text 10"/>
          <p:cNvSpPr/>
          <p:nvPr/>
        </p:nvSpPr>
        <p:spPr>
          <a:xfrm>
            <a:off x="3767328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767328" y="320954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应用并提交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767328" y="3776472"/>
            <a:ext cx="2039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品牌与内容以 branding.json + labs.json 形式发布。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971032" y="324612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78B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345936" y="2148840"/>
            <a:ext cx="2514600" cy="2880360"/>
          </a:xfrm>
          <a:prstGeom prst="roundRect">
            <a:avLst>
              <a:gd name="adj" fmla="val 4364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20256" y="244144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18" name="Text 16"/>
          <p:cNvSpPr/>
          <p:nvPr/>
        </p:nvSpPr>
        <p:spPr>
          <a:xfrm>
            <a:off x="6620256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620256" y="320954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自动部署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620256" y="3776472"/>
            <a:ext cx="2039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每次推送时 GitHub Actions 自动构建并发布到 GitHub Pages。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823960" y="324612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78B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9198864" y="2148840"/>
            <a:ext cx="2514600" cy="2880360"/>
          </a:xfrm>
          <a:prstGeom prst="roundRect">
            <a:avLst>
              <a:gd name="adj" fmla="val 4364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473184" y="244144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24" name="Text 22"/>
          <p:cNvSpPr/>
          <p:nvPr/>
        </p:nvSpPr>
        <p:spPr>
          <a:xfrm>
            <a:off x="9473184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473184" y="320954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人人可见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9473184" y="3776472"/>
            <a:ext cx="2039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参与者打开在线 URL — 相同内容、相同品牌。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54406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B4B1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无需逐个用户配置。发布的文件是每位访问者的唯一可信来源。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81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D365DEMO\__Projects\Agent JumpStart 2\promo\img\jumpstart-chine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3813048" cy="572414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566928"/>
            <a:ext cx="3813048" cy="5724144"/>
          </a:xfrm>
          <a:prstGeom prst="roundRect">
            <a:avLst>
              <a:gd name="adj" fmla="val 1439"/>
            </a:avLst>
          </a:prstGeom>
          <a:ln w="15875">
            <a:solidFill>
              <a:srgbClr val="3B346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02920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⚡ JumpStart V2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5029200" y="960120"/>
            <a:ext cx="6583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CEC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从实验到影响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029200" y="1965960"/>
            <a:ext cx="640080" cy="640080"/>
          </a:xfrm>
          <a:prstGeom prst="roundRect">
            <a:avLst>
              <a:gd name="adj" fmla="val 18571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0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⚡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5852160" y="1947672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快速起步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852160" y="233172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B4B1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打开一个链接即可开始 — 无需安装、无需配置。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029200" y="2862072"/>
            <a:ext cx="640080" cy="640080"/>
          </a:xfrm>
          <a:prstGeom prst="roundRect">
            <a:avLst>
              <a:gd name="adj" fmla="val 18571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0" y="28620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🙌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5852160" y="2843784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自助 &amp; 自定进度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5852160" y="3227832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B4B1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参与者自主推进，你只需引导。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029200" y="3758184"/>
            <a:ext cx="640080" cy="640080"/>
          </a:xfrm>
          <a:prstGeom prst="roundRect">
            <a:avLst>
              <a:gd name="adj" fmla="val 18571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0" y="375818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📋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5852160" y="3739896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复制即构建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5852160" y="4123944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B4B1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可复制的提示词，将每一步变成真正可用的 Agent。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029200" y="4654296"/>
            <a:ext cx="640080" cy="640080"/>
          </a:xfrm>
          <a:prstGeom prst="roundRect">
            <a:avLst>
              <a:gd name="adj" fmla="val 18571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029200" y="465429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🌍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5852160" y="4636008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多语言就绪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5852160" y="5020056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B4B1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八种语言，一个可分享链接。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029200" y="5550408"/>
            <a:ext cx="640080" cy="640080"/>
          </a:xfrm>
          <a:prstGeom prst="roundRect">
            <a:avLst>
              <a:gd name="adj" fmla="val 18571"/>
            </a:avLst>
          </a:prstGeom>
          <a:solidFill>
            <a:srgbClr val="A78BFA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029200" y="55504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🚀</a:t>
            </a:r>
            <a:endParaRPr lang="en-US" sz="2400" dirty="0"/>
          </a:p>
        </p:txBody>
      </p:sp>
      <p:sp>
        <p:nvSpPr>
          <p:cNvPr id="24" name="Text 21"/>
          <p:cNvSpPr/>
          <p:nvPr/>
        </p:nvSpPr>
        <p:spPr>
          <a:xfrm>
            <a:off x="5852160" y="5532120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从实验到影响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5852160" y="5916168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B4B1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快速交付带来真实业务价值的 Agent。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-2743200"/>
            <a:ext cx="6858000" cy="6858000"/>
          </a:xfrm>
          <a:prstGeom prst="ellipse">
            <a:avLst/>
          </a:prstGeom>
          <a:solidFill>
            <a:srgbClr val="7C3AED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4023360"/>
            <a:ext cx="6400800" cy="6400800"/>
          </a:xfrm>
          <a:prstGeom prst="ellipse">
            <a:avLst/>
          </a:prstGeom>
          <a:solidFill>
            <a:srgbClr val="EC4899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472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E9E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随时可以开始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03504" y="1207008"/>
            <a:ext cx="7040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600" b="1" dirty="0">
                <a:solidFill>
                  <a:srgbClr val="ECEC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JumpStart v2 带到你的 下一场客户研讨会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2788920"/>
            <a:ext cx="70408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CFCD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无论是内部赋能还是外部客户活动 — 联合品牌化、分享链接，让参与者亲手构建真实 Agent。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611880"/>
            <a:ext cx="4114800" cy="1005840"/>
          </a:xfrm>
          <a:prstGeom prst="roundRect">
            <a:avLst>
              <a:gd name="adj" fmla="val 10909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pic>
        <p:nvPicPr>
          <p:cNvPr id="8" name="Image 0" descr="C:\D365DEMO\__Projects\Agent JumpStart 2\promo\img\micha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785616"/>
            <a:ext cx="658368" cy="658368"/>
          </a:xfrm>
          <a:prstGeom prst="ellipse">
            <a:avLst/>
          </a:prstGeom>
        </p:spPr>
      </p:pic>
      <p:sp>
        <p:nvSpPr>
          <p:cNvPr id="9" name="Text 6"/>
          <p:cNvSpPr/>
          <p:nvPr/>
        </p:nvSpPr>
        <p:spPr>
          <a:xfrm>
            <a:off x="1627632" y="380390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CEC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Michael Jiang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627632" y="416966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D3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zhijian@microsoft.com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0080" y="4828032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B4B1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MCAPS Core — Agent Asia Team</a:t>
            </a:r>
            <a:endParaRPr lang="en-US" sz="1250" dirty="0"/>
          </a:p>
        </p:txBody>
      </p:sp>
      <p:pic>
        <p:nvPicPr>
          <p:cNvPr id="12" name="Image 1" descr="C:\D365DEMO\__Projects\Agent JumpStart 2\promo\img\ai-agent-jumpstart-hero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234440"/>
            <a:ext cx="3611880" cy="361188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7703820" y="5029200"/>
            <a:ext cx="4206240" cy="932688"/>
          </a:xfrm>
          <a:prstGeom prst="roundRect">
            <a:avLst>
              <a:gd name="adj" fmla="val 11765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886700" y="517550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A78B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在线研讨会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7886700" y="5449824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FED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aka.ms/ai-agent-jumpstart-v2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640080" y="546811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B4B1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特别感谢 JumpStart v-Team 团队的贡献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40080" y="6236208"/>
            <a:ext cx="1554480" cy="347472"/>
          </a:xfrm>
          <a:prstGeom prst="roundRect">
            <a:avLst>
              <a:gd name="adj" fmla="val 26316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40080" y="623620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ED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Nalin Shukla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2359152" y="6236208"/>
            <a:ext cx="1463040" cy="347472"/>
          </a:xfrm>
          <a:prstGeom prst="roundRect">
            <a:avLst>
              <a:gd name="adj" fmla="val 26316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2359152" y="623620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ED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Scott Berry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3986784" y="6236208"/>
            <a:ext cx="1188720" cy="347472"/>
          </a:xfrm>
          <a:prstGeom prst="roundRect">
            <a:avLst>
              <a:gd name="adj" fmla="val 26316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986784" y="623620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ED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Steve Ng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5340096" y="6236208"/>
            <a:ext cx="1645920" cy="347472"/>
          </a:xfrm>
          <a:prstGeom prst="roundRect">
            <a:avLst>
              <a:gd name="adj" fmla="val 26316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5340096" y="623620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ED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Jalilah Halim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7150608" y="6236208"/>
            <a:ext cx="1828800" cy="347472"/>
          </a:xfrm>
          <a:prstGeom prst="roundRect">
            <a:avLst>
              <a:gd name="adj" fmla="val 26316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7150608" y="623620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ED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Anand Ponnusamy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Agent JumpStart Workshop v2 - Highlights</dc:title>
  <dc:subject>PptxGenJS Presentation</dc:subject>
  <dc:creator>Microsoft MCAPS Core - Agent Asia Team</dc:creator>
  <cp:lastModifiedBy>Microsoft MCAPS Core - Agent Asia Team</cp:lastModifiedBy>
  <cp:revision>1</cp:revision>
  <dcterms:created xsi:type="dcterms:W3CDTF">2026-08-12T09:51:42Z</dcterms:created>
  <dcterms:modified xsi:type="dcterms:W3CDTF">2026-08-12T09:51:42Z</dcterms:modified>
</cp:coreProperties>
</file>